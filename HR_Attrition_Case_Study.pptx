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ppt/charts/chart4.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23"/>
    <p:restoredTop sz="94610"/>
  </p:normalViewPr>
  <p:slideViewPr>
    <p:cSldViewPr snapToGrid="0" snapToObjects="1">
      <p:cViewPr varScale="1">
        <p:scale>
          <a:sx n="126" d="100"/>
          <a:sy n="126" d="100"/>
        </p:scale>
        <p:origin x="232" y="3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Attrition Rate (%)</c:v>
                </c:pt>
              </c:strCache>
            </c:strRef>
          </c:tx>
          <c:spPr>
            <a:solidFill>
              <a:srgbClr val="E4572E"/>
            </a:solidFill>
            <a:effectLst/>
          </c:spPr>
          <c:invertIfNegative val="0"/>
          <c:dPt>
            <c:idx val="0"/>
            <c:invertIfNegative val="0"/>
            <c:bubble3D val="0"/>
            <c:spPr>
              <a:solidFill>
                <a:srgbClr val="E4572E"/>
              </a:solidFill>
              <a:effectLst/>
            </c:spPr>
            <c:extLst>
              <c:ext xmlns:c16="http://schemas.microsoft.com/office/drawing/2014/chart" uri="{C3380CC4-5D6E-409C-BE32-E72D297353CC}">
                <c16:uniqueId val="{00000001-2005-1D48-AB46-CC0E93B07000}"/>
              </c:ext>
            </c:extLst>
          </c:dPt>
          <c:dPt>
            <c:idx val="1"/>
            <c:invertIfNegative val="0"/>
            <c:bubble3D val="0"/>
            <c:spPr>
              <a:solidFill>
                <a:srgbClr val="3A6EA5"/>
              </a:solidFill>
              <a:effectLst/>
            </c:spPr>
            <c:extLst>
              <c:ext xmlns:c16="http://schemas.microsoft.com/office/drawing/2014/chart" uri="{C3380CC4-5D6E-409C-BE32-E72D297353CC}">
                <c16:uniqueId val="{00000003-2005-1D48-AB46-CC0E93B07000}"/>
              </c:ext>
            </c:extLst>
          </c:dPt>
          <c:dPt>
            <c:idx val="2"/>
            <c:invertIfNegative val="0"/>
            <c:bubble3D val="0"/>
            <c:spPr>
              <a:solidFill>
                <a:srgbClr val="1E2761"/>
              </a:solidFill>
              <a:effectLst/>
            </c:spPr>
            <c:extLst>
              <c:ext xmlns:c16="http://schemas.microsoft.com/office/drawing/2014/chart" uri="{C3380CC4-5D6E-409C-BE32-E72D297353CC}">
                <c16:uniqueId val="{00000005-2005-1D48-AB46-CC0E93B07000}"/>
              </c:ext>
            </c:extLst>
          </c:dPt>
          <c:dLbls>
            <c:numFmt formatCode="0.0&quot;%&quot;" sourceLinked="0"/>
            <c:spPr>
              <a:noFill/>
              <a:ln>
                <a:noFill/>
              </a:ln>
              <a:effectLst/>
            </c:spPr>
            <c:txPr>
              <a:bodyPr/>
              <a:lstStyle/>
              <a:p>
                <a:pPr>
                  <a:defRPr sz="1300" b="1" i="0" u="none" strike="noStrike">
                    <a:solidFill>
                      <a:srgbClr val="1E276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Low</c:v>
                </c:pt>
                <c:pt idx="1">
                  <c:v>Medium</c:v>
                </c:pt>
                <c:pt idx="2">
                  <c:v>High</c:v>
                </c:pt>
              </c:strCache>
            </c:strRef>
          </c:cat>
          <c:val>
            <c:numRef>
              <c:f>Sheet1!$B$2:$B$4</c:f>
              <c:numCache>
                <c:formatCode>General</c:formatCode>
                <c:ptCount val="3"/>
                <c:pt idx="0">
                  <c:v>20.5</c:v>
                </c:pt>
                <c:pt idx="1">
                  <c:v>14.6</c:v>
                </c:pt>
                <c:pt idx="2">
                  <c:v>4.8</c:v>
                </c:pt>
              </c:numCache>
            </c:numRef>
          </c:val>
          <c:extLst>
            <c:ext xmlns:c16="http://schemas.microsoft.com/office/drawing/2014/chart" uri="{C3380CC4-5D6E-409C-BE32-E72D297353CC}">
              <c16:uniqueId val="{00000006-2005-1D48-AB46-CC0E93B07000}"/>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title>
          <c:tx>
            <c:rich>
              <a:bodyPr/>
              <a:lstStyle/>
              <a:p>
                <a:pPr>
                  <a:defRPr sz="1100" b="0" i="0" u="none" strike="noStrike">
                    <a:solidFill>
                      <a:srgbClr val="5D7290"/>
                    </a:solidFill>
                    <a:latin typeface="Arial"/>
                  </a:defRPr>
                </a:pPr>
                <a:r>
                  <a:rPr lang="en-US" sz="1100" b="0" i="0" u="none" strike="noStrike">
                    <a:solidFill>
                      <a:srgbClr val="5D7290"/>
                    </a:solidFill>
                    <a:latin typeface="Arial"/>
                  </a:rPr>
                  <a:t>Salary Bracket</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E2761"/>
                </a:solidFill>
                <a:latin typeface="Arial"/>
              </a:defRPr>
            </a:pPr>
            <a:endParaRPr lang="en-US"/>
          </a:p>
        </c:txPr>
        <c:crossAx val="2094734552"/>
        <c:crosses val="autoZero"/>
        <c:auto val="1"/>
        <c:lblAlgn val="ctr"/>
        <c:lblOffset val="100"/>
        <c:noMultiLvlLbl val="1"/>
      </c:catAx>
      <c:valAx>
        <c:axId val="2094734552"/>
        <c:scaling>
          <c:orientation val="minMax"/>
          <c:max val="24"/>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Attrition Rate (%)</c:v>
                </c:pt>
              </c:strCache>
            </c:strRef>
          </c:tx>
          <c:spPr>
            <a:solidFill>
              <a:srgbClr val="E4572E"/>
            </a:solidFill>
            <a:effectLst/>
          </c:spPr>
          <c:invertIfNegative val="0"/>
          <c:dPt>
            <c:idx val="0"/>
            <c:invertIfNegative val="0"/>
            <c:bubble3D val="0"/>
            <c:spPr>
              <a:solidFill>
                <a:srgbClr val="E4572E"/>
              </a:solidFill>
              <a:effectLst/>
            </c:spPr>
            <c:extLst>
              <c:ext xmlns:c16="http://schemas.microsoft.com/office/drawing/2014/chart" uri="{C3380CC4-5D6E-409C-BE32-E72D297353CC}">
                <c16:uniqueId val="{00000001-22E8-8748-8567-2C08A09D7CFC}"/>
              </c:ext>
            </c:extLst>
          </c:dPt>
          <c:dPt>
            <c:idx val="1"/>
            <c:invertIfNegative val="0"/>
            <c:bubble3D val="0"/>
            <c:spPr>
              <a:solidFill>
                <a:srgbClr val="1E2761"/>
              </a:solidFill>
              <a:effectLst/>
            </c:spPr>
            <c:extLst>
              <c:ext xmlns:c16="http://schemas.microsoft.com/office/drawing/2014/chart" uri="{C3380CC4-5D6E-409C-BE32-E72D297353CC}">
                <c16:uniqueId val="{00000003-22E8-8748-8567-2C08A09D7CFC}"/>
              </c:ext>
            </c:extLst>
          </c:dPt>
          <c:dPt>
            <c:idx val="2"/>
            <c:invertIfNegative val="0"/>
            <c:bubble3D val="0"/>
            <c:spPr>
              <a:solidFill>
                <a:srgbClr val="1E2761"/>
              </a:solidFill>
              <a:effectLst/>
            </c:spPr>
            <c:extLst>
              <c:ext xmlns:c16="http://schemas.microsoft.com/office/drawing/2014/chart" uri="{C3380CC4-5D6E-409C-BE32-E72D297353CC}">
                <c16:uniqueId val="{00000005-22E8-8748-8567-2C08A09D7CFC}"/>
              </c:ext>
            </c:extLst>
          </c:dPt>
          <c:dPt>
            <c:idx val="3"/>
            <c:invertIfNegative val="0"/>
            <c:bubble3D val="0"/>
            <c:spPr>
              <a:solidFill>
                <a:srgbClr val="1E2761"/>
              </a:solidFill>
              <a:effectLst/>
            </c:spPr>
            <c:extLst>
              <c:ext xmlns:c16="http://schemas.microsoft.com/office/drawing/2014/chart" uri="{C3380CC4-5D6E-409C-BE32-E72D297353CC}">
                <c16:uniqueId val="{00000007-22E8-8748-8567-2C08A09D7CFC}"/>
              </c:ext>
            </c:extLst>
          </c:dPt>
          <c:dPt>
            <c:idx val="4"/>
            <c:invertIfNegative val="0"/>
            <c:bubble3D val="0"/>
            <c:spPr>
              <a:solidFill>
                <a:srgbClr val="E4572E"/>
              </a:solidFill>
              <a:effectLst/>
            </c:spPr>
            <c:extLst>
              <c:ext xmlns:c16="http://schemas.microsoft.com/office/drawing/2014/chart" uri="{C3380CC4-5D6E-409C-BE32-E72D297353CC}">
                <c16:uniqueId val="{00000009-22E8-8748-8567-2C08A09D7CFC}"/>
              </c:ext>
            </c:extLst>
          </c:dPt>
          <c:dPt>
            <c:idx val="5"/>
            <c:invertIfNegative val="0"/>
            <c:bubble3D val="0"/>
            <c:spPr>
              <a:solidFill>
                <a:srgbClr val="E4572E"/>
              </a:solidFill>
              <a:effectLst/>
            </c:spPr>
            <c:extLst>
              <c:ext xmlns:c16="http://schemas.microsoft.com/office/drawing/2014/chart" uri="{C3380CC4-5D6E-409C-BE32-E72D297353CC}">
                <c16:uniqueId val="{0000000B-22E8-8748-8567-2C08A09D7CFC}"/>
              </c:ext>
            </c:extLst>
          </c:dPt>
          <c:dLbls>
            <c:numFmt formatCode="0.0&quot;%&quot;" sourceLinked="0"/>
            <c:spPr>
              <a:noFill/>
              <a:ln>
                <a:noFill/>
              </a:ln>
              <a:effectLst/>
            </c:spPr>
            <c:txPr>
              <a:bodyPr/>
              <a:lstStyle/>
              <a:p>
                <a:pPr>
                  <a:defRPr sz="1300" b="1" i="0" u="none" strike="noStrike">
                    <a:solidFill>
                      <a:srgbClr val="1E276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2</c:v>
                </c:pt>
                <c:pt idx="1">
                  <c:v>3</c:v>
                </c:pt>
                <c:pt idx="2">
                  <c:v>4</c:v>
                </c:pt>
                <c:pt idx="3">
                  <c:v>5</c:v>
                </c:pt>
                <c:pt idx="4">
                  <c:v>6</c:v>
                </c:pt>
                <c:pt idx="5">
                  <c:v>7</c:v>
                </c:pt>
              </c:strCache>
            </c:strRef>
          </c:cat>
          <c:val>
            <c:numRef>
              <c:f>Sheet1!$B$2:$B$7</c:f>
              <c:numCache>
                <c:formatCode>General</c:formatCode>
                <c:ptCount val="6"/>
                <c:pt idx="0">
                  <c:v>54.2</c:v>
                </c:pt>
                <c:pt idx="1">
                  <c:v>1.1000000000000001</c:v>
                </c:pt>
                <c:pt idx="2">
                  <c:v>6.4</c:v>
                </c:pt>
                <c:pt idx="3">
                  <c:v>15.4</c:v>
                </c:pt>
                <c:pt idx="4">
                  <c:v>44.9</c:v>
                </c:pt>
                <c:pt idx="5">
                  <c:v>100</c:v>
                </c:pt>
              </c:numCache>
            </c:numRef>
          </c:val>
          <c:extLst>
            <c:ext xmlns:c16="http://schemas.microsoft.com/office/drawing/2014/chart" uri="{C3380CC4-5D6E-409C-BE32-E72D297353CC}">
              <c16:uniqueId val="{0000000C-22E8-8748-8567-2C08A09D7CFC}"/>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title>
          <c:tx>
            <c:rich>
              <a:bodyPr/>
              <a:lstStyle/>
              <a:p>
                <a:pPr>
                  <a:defRPr sz="1100" b="0" i="0" u="none" strike="noStrike">
                    <a:solidFill>
                      <a:srgbClr val="5D7290"/>
                    </a:solidFill>
                    <a:latin typeface="Arial"/>
                  </a:defRPr>
                </a:pPr>
                <a:r>
                  <a:rPr lang="en-US" sz="1100" b="0" i="0" u="none" strike="noStrike">
                    <a:solidFill>
                      <a:srgbClr val="5D7290"/>
                    </a:solidFill>
                    <a:latin typeface="Arial"/>
                  </a:rPr>
                  <a:t>Number of Concurrent Projects</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E2761"/>
                </a:solidFill>
                <a:latin typeface="Arial"/>
              </a:defRPr>
            </a:pPr>
            <a:endParaRPr lang="en-US"/>
          </a:p>
        </c:txPr>
        <c:crossAx val="2094734552"/>
        <c:crosses val="autoZero"/>
        <c:auto val="1"/>
        <c:lblAlgn val="ctr"/>
        <c:lblOffset val="100"/>
        <c:noMultiLvlLbl val="1"/>
      </c:catAx>
      <c:valAx>
        <c:axId val="2094734552"/>
        <c:scaling>
          <c:orientation val="minMax"/>
          <c:max val="11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Avg. Satisfaction (%)</c:v>
                </c:pt>
              </c:strCache>
            </c:strRef>
          </c:tx>
          <c:spPr>
            <a:ln w="38100" cap="flat">
              <a:solidFill>
                <a:srgbClr val="E4572E"/>
              </a:solidFill>
              <a:prstDash val="solid"/>
              <a:round/>
            </a:ln>
            <a:effectLst/>
          </c:spPr>
          <c:marker>
            <c:symbol val="circle"/>
            <c:size val="7"/>
            <c:spPr>
              <a:solidFill>
                <a:srgbClr val="E4572E"/>
              </a:solidFill>
              <a:ln w="9525" cap="flat">
                <a:solidFill>
                  <a:srgbClr val="E4572E"/>
                </a:solidFill>
                <a:prstDash val="solid"/>
                <a:round/>
              </a:ln>
              <a:effectLst/>
            </c:spPr>
          </c:marker>
          <c:cat>
            <c:strRef>
              <c:f>Sheet1!$A$2:$A$9</c:f>
              <c:strCache>
                <c:ptCount val="8"/>
                <c:pt idx="0">
                  <c:v>2</c:v>
                </c:pt>
                <c:pt idx="1">
                  <c:v>3</c:v>
                </c:pt>
                <c:pt idx="2">
                  <c:v>4</c:v>
                </c:pt>
                <c:pt idx="3">
                  <c:v>5</c:v>
                </c:pt>
                <c:pt idx="4">
                  <c:v>6</c:v>
                </c:pt>
                <c:pt idx="5">
                  <c:v>7</c:v>
                </c:pt>
                <c:pt idx="6">
                  <c:v>8</c:v>
                </c:pt>
                <c:pt idx="7">
                  <c:v>10</c:v>
                </c:pt>
              </c:strCache>
            </c:strRef>
          </c:cat>
          <c:val>
            <c:numRef>
              <c:f>Sheet1!$B$2:$B$9</c:f>
              <c:numCache>
                <c:formatCode>General</c:formatCode>
                <c:ptCount val="8"/>
                <c:pt idx="0">
                  <c:v>70</c:v>
                </c:pt>
                <c:pt idx="1">
                  <c:v>65</c:v>
                </c:pt>
                <c:pt idx="2">
                  <c:v>52</c:v>
                </c:pt>
                <c:pt idx="3">
                  <c:v>58</c:v>
                </c:pt>
                <c:pt idx="4">
                  <c:v>57</c:v>
                </c:pt>
                <c:pt idx="5">
                  <c:v>64</c:v>
                </c:pt>
                <c:pt idx="6">
                  <c:v>67</c:v>
                </c:pt>
                <c:pt idx="7">
                  <c:v>66</c:v>
                </c:pt>
              </c:numCache>
            </c:numRef>
          </c:val>
          <c:smooth val="0"/>
          <c:extLst>
            <c:ext xmlns:c16="http://schemas.microsoft.com/office/drawing/2014/chart" uri="{C3380CC4-5D6E-409C-BE32-E72D297353CC}">
              <c16:uniqueId val="{00000000-0700-634F-B142-766C6E128410}"/>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050" b="0" i="0" u="none" strike="noStrike">
                    <a:solidFill>
                      <a:srgbClr val="5D7290"/>
                    </a:solidFill>
                    <a:latin typeface="Arial"/>
                  </a:defRPr>
                </a:pPr>
                <a:r>
                  <a:rPr lang="en-US" sz="1050" b="0" i="0" u="none" strike="noStrike">
                    <a:solidFill>
                      <a:srgbClr val="5D7290"/>
                    </a:solidFill>
                    <a:latin typeface="Arial"/>
                  </a:rPr>
                  <a:t>Years at Company</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E2761"/>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EF1F9"/>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D729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Effect on Attrition Risk</c:v>
                </c:pt>
              </c:strCache>
            </c:strRef>
          </c:tx>
          <c:spPr>
            <a:solidFill>
              <a:srgbClr val="1E2761"/>
            </a:solidFill>
            <a:effectLst/>
          </c:spPr>
          <c:invertIfNegative val="0"/>
          <c:dPt>
            <c:idx val="0"/>
            <c:invertIfNegative val="0"/>
            <c:bubble3D val="0"/>
            <c:extLst>
              <c:ext xmlns:c16="http://schemas.microsoft.com/office/drawing/2014/chart" uri="{C3380CC4-5D6E-409C-BE32-E72D297353CC}">
                <c16:uniqueId val="{00000001-3ABB-5B43-BDB8-7F23032EB3C8}"/>
              </c:ext>
            </c:extLst>
          </c:dPt>
          <c:dPt>
            <c:idx val="1"/>
            <c:invertIfNegative val="0"/>
            <c:bubble3D val="0"/>
            <c:extLst>
              <c:ext xmlns:c16="http://schemas.microsoft.com/office/drawing/2014/chart" uri="{C3380CC4-5D6E-409C-BE32-E72D297353CC}">
                <c16:uniqueId val="{00000003-3ABB-5B43-BDB8-7F23032EB3C8}"/>
              </c:ext>
            </c:extLst>
          </c:dPt>
          <c:dPt>
            <c:idx val="2"/>
            <c:invertIfNegative val="0"/>
            <c:bubble3D val="0"/>
            <c:extLst>
              <c:ext xmlns:c16="http://schemas.microsoft.com/office/drawing/2014/chart" uri="{C3380CC4-5D6E-409C-BE32-E72D297353CC}">
                <c16:uniqueId val="{00000005-3ABB-5B43-BDB8-7F23032EB3C8}"/>
              </c:ext>
            </c:extLst>
          </c:dPt>
          <c:dPt>
            <c:idx val="3"/>
            <c:invertIfNegative val="0"/>
            <c:bubble3D val="0"/>
            <c:spPr>
              <a:solidFill>
                <a:srgbClr val="E4572E"/>
              </a:solidFill>
              <a:effectLst/>
            </c:spPr>
            <c:extLst>
              <c:ext xmlns:c16="http://schemas.microsoft.com/office/drawing/2014/chart" uri="{C3380CC4-5D6E-409C-BE32-E72D297353CC}">
                <c16:uniqueId val="{00000007-3ABB-5B43-BDB8-7F23032EB3C8}"/>
              </c:ext>
            </c:extLst>
          </c:dPt>
          <c:dPt>
            <c:idx val="4"/>
            <c:invertIfNegative val="0"/>
            <c:bubble3D val="0"/>
            <c:extLst>
              <c:ext xmlns:c16="http://schemas.microsoft.com/office/drawing/2014/chart" uri="{C3380CC4-5D6E-409C-BE32-E72D297353CC}">
                <c16:uniqueId val="{00000009-3ABB-5B43-BDB8-7F23032EB3C8}"/>
              </c:ext>
            </c:extLst>
          </c:dPt>
          <c:dLbls>
            <c:numFmt formatCode="0.00" sourceLinked="0"/>
            <c:spPr>
              <a:noFill/>
              <a:ln>
                <a:noFill/>
              </a:ln>
              <a:effectLst/>
            </c:spPr>
            <c:txPr>
              <a:bodyPr/>
              <a:lstStyle/>
              <a:p>
                <a:pPr>
                  <a:defRPr sz="1050" b="1" i="0" u="none" strike="noStrike">
                    <a:solidFill>
                      <a:srgbClr val="1E276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Salary Level</c:v>
                </c:pt>
                <c:pt idx="1">
                  <c:v>Had Work Accident</c:v>
                </c:pt>
                <c:pt idx="2">
                  <c:v>Number of Projects*</c:v>
                </c:pt>
                <c:pt idx="3">
                  <c:v>Tenure (Years)</c:v>
                </c:pt>
                <c:pt idx="4">
                  <c:v>Job Satisfaction</c:v>
                </c:pt>
              </c:strCache>
            </c:strRef>
          </c:cat>
          <c:val>
            <c:numRef>
              <c:f>Sheet1!$B$2:$B$6</c:f>
              <c:numCache>
                <c:formatCode>General</c:formatCode>
                <c:ptCount val="5"/>
                <c:pt idx="0">
                  <c:v>-0.39</c:v>
                </c:pt>
                <c:pt idx="1">
                  <c:v>-0.49</c:v>
                </c:pt>
                <c:pt idx="2">
                  <c:v>-0.54</c:v>
                </c:pt>
                <c:pt idx="3">
                  <c:v>0.88</c:v>
                </c:pt>
                <c:pt idx="4">
                  <c:v>-1.0900000000000001</c:v>
                </c:pt>
              </c:numCache>
            </c:numRef>
          </c:val>
          <c:extLst>
            <c:ext xmlns:c16="http://schemas.microsoft.com/office/drawing/2014/chart" uri="{C3380CC4-5D6E-409C-BE32-E72D297353CC}">
              <c16:uniqueId val="{0000000A-3ABB-5B43-BDB8-7F23032EB3C8}"/>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E2761"/>
                </a:solidFill>
                <a:latin typeface="Arial"/>
              </a:defRPr>
            </a:pPr>
            <a:endParaRPr lang="en-US"/>
          </a:p>
        </c:txPr>
        <c:crossAx val="2094734552"/>
        <c:crosses val="autoZero"/>
        <c:auto val="1"/>
        <c:lblAlgn val="ctr"/>
        <c:lblOffset val="100"/>
        <c:noMultiLvlLbl val="1"/>
      </c:catAx>
      <c:valAx>
        <c:axId val="2094734552"/>
        <c:scaling>
          <c:orientation val="minMax"/>
          <c:max val="1.5"/>
          <c:min val="-1.6"/>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81104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4297680"/>
            <a:ext cx="3291840" cy="3291840"/>
          </a:xfrm>
          <a:prstGeom prst="ellipse">
            <a:avLst/>
          </a:prstGeom>
          <a:solidFill>
            <a:srgbClr val="141B45"/>
          </a:solidFill>
          <a:ln/>
        </p:spPr>
      </p:sp>
      <p:sp>
        <p:nvSpPr>
          <p:cNvPr id="3" name="Shape 1"/>
          <p:cNvSpPr/>
          <p:nvPr/>
        </p:nvSpPr>
        <p:spPr>
          <a:xfrm>
            <a:off x="10698480" y="5120640"/>
            <a:ext cx="2011680" cy="2011680"/>
          </a:xfrm>
          <a:prstGeom prst="ellipse">
            <a:avLst/>
          </a:prstGeom>
          <a:solidFill>
            <a:srgbClr val="23306E"/>
          </a:solidFill>
          <a:ln/>
        </p:spPr>
      </p:sp>
      <p:sp>
        <p:nvSpPr>
          <p:cNvPr id="4" name="Shape 2"/>
          <p:cNvSpPr/>
          <p:nvPr/>
        </p:nvSpPr>
        <p:spPr>
          <a:xfrm>
            <a:off x="11430000" y="5760720"/>
            <a:ext cx="1005840" cy="1005840"/>
          </a:xfrm>
          <a:prstGeom prst="ellipse">
            <a:avLst/>
          </a:prstGeom>
          <a:solidFill>
            <a:srgbClr val="E4572E"/>
          </a:solidFill>
          <a:ln/>
        </p:spPr>
      </p:sp>
      <p:sp>
        <p:nvSpPr>
          <p:cNvPr id="5" name="Text 3"/>
          <p:cNvSpPr txBox="1"/>
          <p:nvPr/>
        </p:nvSpPr>
        <p:spPr>
          <a:xfrm>
            <a:off x="640080" y="1874520"/>
            <a:ext cx="8229600" cy="365760"/>
          </a:xfrm>
          <a:prstGeom prst="rect">
            <a:avLst/>
          </a:prstGeom>
          <a:noFill/>
          <a:ln/>
        </p:spPr>
        <p:txBody>
          <a:bodyPr wrap="square" lIns="0" tIns="0" rIns="0" bIns="0" rtlCol="0" anchor="ctr"/>
          <a:lstStyle/>
          <a:p>
            <a:pPr marL="0" indent="0">
              <a:buNone/>
            </a:pPr>
            <a:r>
              <a:rPr lang="en-US" sz="1400" b="1" kern="0" spc="300" dirty="0">
                <a:solidFill>
                  <a:srgbClr val="CADCFC"/>
                </a:solidFill>
                <a:latin typeface="Calibri" pitchFamily="34" charset="0"/>
                <a:ea typeface="Calibri" pitchFamily="34" charset="-122"/>
                <a:cs typeface="Calibri" pitchFamily="34" charset="-120"/>
              </a:rPr>
              <a:t>HR DATA ANALYTICS</a:t>
            </a:r>
            <a:endParaRPr lang="en-US" sz="1400" dirty="0"/>
          </a:p>
        </p:txBody>
      </p:sp>
      <p:sp>
        <p:nvSpPr>
          <p:cNvPr id="6" name="Text 4"/>
          <p:cNvSpPr txBox="1"/>
          <p:nvPr/>
        </p:nvSpPr>
        <p:spPr>
          <a:xfrm>
            <a:off x="594360" y="2240280"/>
            <a:ext cx="9875520" cy="128016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Predicting Employee Attrition</a:t>
            </a:r>
            <a:endParaRPr lang="en-US" sz="4400" dirty="0"/>
          </a:p>
        </p:txBody>
      </p:sp>
      <p:sp>
        <p:nvSpPr>
          <p:cNvPr id="7" name="Text 5"/>
          <p:cNvSpPr txBox="1"/>
          <p:nvPr/>
        </p:nvSpPr>
        <p:spPr>
          <a:xfrm>
            <a:off x="640080" y="3429000"/>
            <a:ext cx="8778240" cy="548640"/>
          </a:xfrm>
          <a:prstGeom prst="rect">
            <a:avLst/>
          </a:prstGeom>
          <a:noFill/>
          <a:ln/>
        </p:spPr>
        <p:txBody>
          <a:bodyPr wrap="square" lIns="0" tIns="0" rIns="0" bIns="0" rtlCol="0" anchor="ctr"/>
          <a:lstStyle/>
          <a:p>
            <a:pPr marL="0" indent="0">
              <a:buNone/>
            </a:pPr>
            <a:r>
              <a:rPr lang="en-US" sz="1800" dirty="0">
                <a:solidFill>
                  <a:srgbClr val="CADCFC"/>
                </a:solidFill>
                <a:latin typeface="Calibri" pitchFamily="34" charset="0"/>
                <a:ea typeface="Calibri" pitchFamily="34" charset="-122"/>
                <a:cs typeface="Calibri" pitchFamily="34" charset="-120"/>
              </a:rPr>
              <a:t>Identifying why employees leave - and what HR can do about it</a:t>
            </a:r>
            <a:endParaRPr lang="en-US" sz="1800" dirty="0"/>
          </a:p>
        </p:txBody>
      </p:sp>
      <p:sp>
        <p:nvSpPr>
          <p:cNvPr id="8" name="Text 6"/>
          <p:cNvSpPr txBox="1"/>
          <p:nvPr/>
        </p:nvSpPr>
        <p:spPr>
          <a:xfrm>
            <a:off x="640080" y="6035040"/>
            <a:ext cx="457200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Iman Ashoori</a:t>
            </a:r>
            <a:endParaRPr lang="en-US" sz="1400" dirty="0"/>
          </a:p>
        </p:txBody>
      </p:sp>
      <p:sp>
        <p:nvSpPr>
          <p:cNvPr id="9" name="Text 7"/>
          <p:cNvSpPr txBox="1"/>
          <p:nvPr/>
        </p:nvSpPr>
        <p:spPr>
          <a:xfrm>
            <a:off x="640080" y="6327648"/>
            <a:ext cx="5486400" cy="274320"/>
          </a:xfrm>
          <a:prstGeom prst="rect">
            <a:avLst/>
          </a:prstGeom>
          <a:noFill/>
          <a:ln/>
        </p:spPr>
        <p:txBody>
          <a:bodyPr wrap="square" lIns="0" tIns="0" rIns="0" bIns="0" rtlCol="0" anchor="ctr"/>
          <a:lstStyle/>
          <a:p>
            <a:pPr marL="0" indent="0">
              <a:buNone/>
            </a:pPr>
            <a:r>
              <a:rPr lang="en-US" sz="1100" dirty="0">
                <a:solidFill>
                  <a:srgbClr val="8B9BC7"/>
                </a:solidFill>
                <a:latin typeface="Calibri" pitchFamily="34" charset="0"/>
                <a:ea typeface="Calibri" pitchFamily="34" charset="-122"/>
                <a:cs typeface="Calibri" pitchFamily="34" charset="-120"/>
              </a:rPr>
              <a:t>Data Analytics ·  September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dirty="0">
                <a:solidFill>
                  <a:srgbClr val="E4572E"/>
                </a:solidFill>
                <a:latin typeface="Calibri" pitchFamily="34" charset="0"/>
                <a:ea typeface="Calibri" pitchFamily="34" charset="-122"/>
                <a:cs typeface="Calibri" pitchFamily="34" charset="-120"/>
              </a:rPr>
              <a:t>EXECUTIVE SUMMARY</a:t>
            </a:r>
            <a:endParaRPr lang="en-US" sz="13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The Bottom Line</a:t>
            </a:r>
            <a:endParaRPr lang="en-US" sz="3200" dirty="0"/>
          </a:p>
        </p:txBody>
      </p:sp>
      <p:sp>
        <p:nvSpPr>
          <p:cNvPr id="4" name="Shape 2"/>
          <p:cNvSpPr/>
          <p:nvPr/>
        </p:nvSpPr>
        <p:spPr>
          <a:xfrm>
            <a:off x="548640" y="1691640"/>
            <a:ext cx="3200400" cy="4251960"/>
          </a:xfrm>
          <a:prstGeom prst="roundRect">
            <a:avLst>
              <a:gd name="adj" fmla="val 3429"/>
            </a:avLst>
          </a:prstGeom>
          <a:solidFill>
            <a:srgbClr val="1E2761"/>
          </a:solidFill>
          <a:ln/>
          <a:effectLst>
            <a:outerShdw blurRad="101600" dist="38100" dir="5400000" algn="bl" rotWithShape="0">
              <a:srgbClr val="1E2761">
                <a:alpha val="25000"/>
              </a:srgbClr>
            </a:outerShdw>
          </a:effectLst>
        </p:spPr>
      </p:sp>
      <p:sp>
        <p:nvSpPr>
          <p:cNvPr id="5" name="Text 3"/>
          <p:cNvSpPr txBox="1"/>
          <p:nvPr/>
        </p:nvSpPr>
        <p:spPr>
          <a:xfrm>
            <a:off x="548640" y="2148840"/>
            <a:ext cx="3200400" cy="1005840"/>
          </a:xfrm>
          <a:prstGeom prst="rect">
            <a:avLst/>
          </a:prstGeom>
          <a:noFill/>
          <a:ln/>
        </p:spPr>
        <p:txBody>
          <a:bodyPr wrap="square" lIns="0" tIns="0" rIns="0" bIns="0" rtlCol="0" anchor="ctr"/>
          <a:lstStyle/>
          <a:p>
            <a:pPr marL="0" indent="0" algn="ctr">
              <a:buNone/>
            </a:pPr>
            <a:r>
              <a:rPr lang="en-US" sz="6000" b="1" dirty="0">
                <a:solidFill>
                  <a:srgbClr val="FFFFFF"/>
                </a:solidFill>
                <a:latin typeface="Cambria" pitchFamily="34" charset="0"/>
                <a:ea typeface="Cambria" pitchFamily="34" charset="-122"/>
                <a:cs typeface="Cambria" pitchFamily="34" charset="-120"/>
              </a:rPr>
              <a:t>16.6%</a:t>
            </a:r>
            <a:endParaRPr lang="en-US" sz="6000" dirty="0"/>
          </a:p>
        </p:txBody>
      </p:sp>
      <p:sp>
        <p:nvSpPr>
          <p:cNvPr id="6" name="Text 4"/>
          <p:cNvSpPr txBox="1"/>
          <p:nvPr/>
        </p:nvSpPr>
        <p:spPr>
          <a:xfrm>
            <a:off x="822960" y="3108960"/>
            <a:ext cx="2651760" cy="731520"/>
          </a:xfrm>
          <a:prstGeom prst="rect">
            <a:avLst/>
          </a:prstGeom>
          <a:noFill/>
          <a:ln/>
        </p:spPr>
        <p:txBody>
          <a:bodyPr wrap="square" lIns="0" tIns="0" rIns="0" bIns="0" rtlCol="0" anchor="ctr"/>
          <a:lstStyle/>
          <a:p>
            <a:pPr marL="0" indent="0" algn="ctr">
              <a:buNone/>
            </a:pPr>
            <a:r>
              <a:rPr lang="en-US" sz="1400" dirty="0">
                <a:solidFill>
                  <a:srgbClr val="CADCFC"/>
                </a:solidFill>
                <a:latin typeface="Calibri" pitchFamily="34" charset="0"/>
                <a:ea typeface="Calibri" pitchFamily="34" charset="-122"/>
                <a:cs typeface="Calibri" pitchFamily="34" charset="-120"/>
              </a:rPr>
              <a:t>current employee</a:t>
            </a:r>
            <a:endParaRPr lang="en-US" sz="1400" dirty="0"/>
          </a:p>
          <a:p>
            <a:pPr marL="0" indent="0" algn="ctr">
              <a:buNone/>
            </a:pPr>
            <a:r>
              <a:rPr lang="en-US" sz="1400" dirty="0">
                <a:solidFill>
                  <a:srgbClr val="CADCFC"/>
                </a:solidFill>
                <a:latin typeface="Calibri" pitchFamily="34" charset="0"/>
                <a:ea typeface="Calibri" pitchFamily="34" charset="-122"/>
                <a:cs typeface="Calibri" pitchFamily="34" charset="-120"/>
              </a:rPr>
              <a:t>attrition rate</a:t>
            </a:r>
            <a:endParaRPr lang="en-US" sz="1400" dirty="0"/>
          </a:p>
        </p:txBody>
      </p:sp>
      <p:sp>
        <p:nvSpPr>
          <p:cNvPr id="7" name="Shape 5"/>
          <p:cNvSpPr/>
          <p:nvPr/>
        </p:nvSpPr>
        <p:spPr>
          <a:xfrm>
            <a:off x="1188720" y="3977640"/>
            <a:ext cx="1737360" cy="18288"/>
          </a:xfrm>
          <a:prstGeom prst="rect">
            <a:avLst/>
          </a:prstGeom>
          <a:solidFill>
            <a:srgbClr val="3A4694"/>
          </a:solidFill>
          <a:ln/>
        </p:spPr>
      </p:sp>
      <p:sp>
        <p:nvSpPr>
          <p:cNvPr id="8" name="Text 6"/>
          <p:cNvSpPr txBox="1"/>
          <p:nvPr/>
        </p:nvSpPr>
        <p:spPr>
          <a:xfrm>
            <a:off x="822960" y="4206240"/>
            <a:ext cx="2651760" cy="1554480"/>
          </a:xfrm>
          <a:prstGeom prst="rect">
            <a:avLst/>
          </a:prstGeom>
          <a:noFill/>
          <a:ln/>
        </p:spPr>
        <p:txBody>
          <a:bodyPr wrap="square" lIns="0" tIns="0" rIns="0" bIns="0" rtlCol="0" anchor="ctr"/>
          <a:lstStyle/>
          <a:p>
            <a:pPr marL="0" indent="0" algn="ctr">
              <a:lnSpc>
                <a:spcPct val="120000"/>
              </a:lnSpc>
              <a:buNone/>
            </a:pPr>
            <a:r>
              <a:rPr lang="en-US" sz="1200" dirty="0">
                <a:solidFill>
                  <a:srgbClr val="CADCFC"/>
                </a:solidFill>
                <a:latin typeface="Calibri" pitchFamily="34" charset="0"/>
                <a:ea typeface="Calibri" pitchFamily="34" charset="-122"/>
                <a:cs typeface="Calibri" pitchFamily="34" charset="-120"/>
              </a:rPr>
              <a:t>Nearly 1 in 6 employees</a:t>
            </a:r>
            <a:endParaRPr lang="en-US" sz="1200" dirty="0"/>
          </a:p>
          <a:p>
            <a:pPr marL="0" indent="0" algn="ctr">
              <a:lnSpc>
                <a:spcPct val="120000"/>
              </a:lnSpc>
              <a:buNone/>
            </a:pPr>
            <a:r>
              <a:rPr lang="en-US" sz="1200" dirty="0">
                <a:solidFill>
                  <a:srgbClr val="CADCFC"/>
                </a:solidFill>
                <a:latin typeface="Calibri" pitchFamily="34" charset="0"/>
                <a:ea typeface="Calibri" pitchFamily="34" charset="-122"/>
                <a:cs typeface="Calibri" pitchFamily="34" charset="-120"/>
              </a:rPr>
              <a:t>leave within the period</a:t>
            </a:r>
            <a:endParaRPr lang="en-US" sz="1200" dirty="0"/>
          </a:p>
          <a:p>
            <a:pPr marL="0" indent="0" algn="ctr">
              <a:lnSpc>
                <a:spcPct val="120000"/>
              </a:lnSpc>
              <a:buNone/>
            </a:pPr>
            <a:r>
              <a:rPr lang="en-US" sz="1200" dirty="0">
                <a:solidFill>
                  <a:srgbClr val="CADCFC"/>
                </a:solidFill>
                <a:latin typeface="Calibri" pitchFamily="34" charset="0"/>
                <a:ea typeface="Calibri" pitchFamily="34" charset="-122"/>
                <a:cs typeface="Calibri" pitchFamily="34" charset="-120"/>
              </a:rPr>
              <a:t>analyzed - based on</a:t>
            </a:r>
            <a:endParaRPr lang="en-US" sz="1200" dirty="0"/>
          </a:p>
          <a:p>
            <a:pPr marL="0" indent="0" algn="ctr">
              <a:lnSpc>
                <a:spcPct val="120000"/>
              </a:lnSpc>
              <a:buNone/>
            </a:pPr>
            <a:r>
              <a:rPr lang="en-US" sz="1200" dirty="0">
                <a:solidFill>
                  <a:srgbClr val="CADCFC"/>
                </a:solidFill>
                <a:latin typeface="Calibri" pitchFamily="34" charset="0"/>
                <a:ea typeface="Calibri" pitchFamily="34" charset="-122"/>
                <a:cs typeface="Calibri" pitchFamily="34" charset="-120"/>
              </a:rPr>
              <a:t>11,991 employee records</a:t>
            </a:r>
            <a:endParaRPr lang="en-US" sz="1200" dirty="0"/>
          </a:p>
        </p:txBody>
      </p:sp>
      <p:sp>
        <p:nvSpPr>
          <p:cNvPr id="9" name="Shape 7"/>
          <p:cNvSpPr/>
          <p:nvPr/>
        </p:nvSpPr>
        <p:spPr>
          <a:xfrm>
            <a:off x="4160520" y="1737360"/>
            <a:ext cx="502920" cy="502920"/>
          </a:xfrm>
          <a:prstGeom prst="ellipse">
            <a:avLst/>
          </a:prstGeom>
          <a:solidFill>
            <a:srgbClr val="E4572E"/>
          </a:solidFill>
          <a:ln/>
        </p:spPr>
      </p:sp>
      <p:sp>
        <p:nvSpPr>
          <p:cNvPr id="10" name="Text 8"/>
          <p:cNvSpPr txBox="1"/>
          <p:nvPr/>
        </p:nvSpPr>
        <p:spPr>
          <a:xfrm>
            <a:off x="4160520" y="173736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9"/>
          <p:cNvSpPr txBox="1"/>
          <p:nvPr/>
        </p:nvSpPr>
        <p:spPr>
          <a:xfrm>
            <a:off x="4892040" y="1709928"/>
            <a:ext cx="6675120" cy="365760"/>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Satisfaction is the strongest signal</a:t>
            </a:r>
            <a:endParaRPr lang="en-US" sz="1600" dirty="0"/>
          </a:p>
        </p:txBody>
      </p:sp>
      <p:sp>
        <p:nvSpPr>
          <p:cNvPr id="12" name="Text 10"/>
          <p:cNvSpPr txBox="1"/>
          <p:nvPr/>
        </p:nvSpPr>
        <p:spPr>
          <a:xfrm>
            <a:off x="4892040" y="2084832"/>
            <a:ext cx="6675120" cy="548640"/>
          </a:xfrm>
          <a:prstGeom prst="rect">
            <a:avLst/>
          </a:prstGeom>
          <a:noFill/>
          <a:ln/>
        </p:spPr>
        <p:txBody>
          <a:bodyPr wrap="square" lIns="0" tIns="0" rIns="0" bIns="0" rtlCol="0" anchor="ctr"/>
          <a:lstStyle/>
          <a:p>
            <a:pPr marL="0" indent="0">
              <a:lnSpc>
                <a:spcPct val="115000"/>
              </a:lnSpc>
              <a:buNone/>
            </a:pPr>
            <a:r>
              <a:rPr lang="en-US" sz="1250" dirty="0">
                <a:solidFill>
                  <a:srgbClr val="5D7290"/>
                </a:solidFill>
                <a:latin typeface="Calibri" pitchFamily="34" charset="0"/>
                <a:ea typeface="Calibri" pitchFamily="34" charset="-122"/>
                <a:cs typeface="Calibri" pitchFamily="34" charset="-120"/>
              </a:rPr>
              <a:t>Job satisfaction correlates with leaving more strongly than any other factor in the data.</a:t>
            </a:r>
            <a:endParaRPr lang="en-US" sz="1250" dirty="0"/>
          </a:p>
        </p:txBody>
      </p:sp>
      <p:sp>
        <p:nvSpPr>
          <p:cNvPr id="13" name="Shape 11"/>
          <p:cNvSpPr/>
          <p:nvPr/>
        </p:nvSpPr>
        <p:spPr>
          <a:xfrm>
            <a:off x="4160520" y="2697480"/>
            <a:ext cx="502920" cy="502920"/>
          </a:xfrm>
          <a:prstGeom prst="ellipse">
            <a:avLst/>
          </a:prstGeom>
          <a:solidFill>
            <a:srgbClr val="E4572E"/>
          </a:solidFill>
          <a:ln/>
        </p:spPr>
      </p:sp>
      <p:sp>
        <p:nvSpPr>
          <p:cNvPr id="14" name="Text 12"/>
          <p:cNvSpPr txBox="1"/>
          <p:nvPr/>
        </p:nvSpPr>
        <p:spPr>
          <a:xfrm>
            <a:off x="4160520" y="269748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txBox="1"/>
          <p:nvPr/>
        </p:nvSpPr>
        <p:spPr>
          <a:xfrm>
            <a:off x="4892040" y="2670048"/>
            <a:ext cx="6675120" cy="365760"/>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Workload has a sweet spot</a:t>
            </a:r>
            <a:endParaRPr lang="en-US" sz="1600" dirty="0"/>
          </a:p>
        </p:txBody>
      </p:sp>
      <p:sp>
        <p:nvSpPr>
          <p:cNvPr id="16" name="Text 14"/>
          <p:cNvSpPr txBox="1"/>
          <p:nvPr/>
        </p:nvSpPr>
        <p:spPr>
          <a:xfrm>
            <a:off x="4892040" y="3044952"/>
            <a:ext cx="6675120" cy="548640"/>
          </a:xfrm>
          <a:prstGeom prst="rect">
            <a:avLst/>
          </a:prstGeom>
          <a:noFill/>
          <a:ln/>
        </p:spPr>
        <p:txBody>
          <a:bodyPr wrap="square" lIns="0" tIns="0" rIns="0" bIns="0" rtlCol="0" anchor="ctr"/>
          <a:lstStyle/>
          <a:p>
            <a:pPr marL="0" indent="0">
              <a:lnSpc>
                <a:spcPct val="115000"/>
              </a:lnSpc>
              <a:buNone/>
            </a:pPr>
            <a:r>
              <a:rPr lang="en-US" sz="1250" dirty="0">
                <a:solidFill>
                  <a:srgbClr val="5D7290"/>
                </a:solidFill>
                <a:latin typeface="Calibri" pitchFamily="34" charset="0"/>
                <a:ea typeface="Calibri" pitchFamily="34" charset="-122"/>
                <a:cs typeface="Calibri" pitchFamily="34" charset="-120"/>
              </a:rPr>
              <a:t>Both under-loaded and overloaded employees leave at far higher rates than those in the middle.</a:t>
            </a:r>
            <a:endParaRPr lang="en-US" sz="1250" dirty="0"/>
          </a:p>
        </p:txBody>
      </p:sp>
      <p:sp>
        <p:nvSpPr>
          <p:cNvPr id="17" name="Shape 15"/>
          <p:cNvSpPr/>
          <p:nvPr/>
        </p:nvSpPr>
        <p:spPr>
          <a:xfrm>
            <a:off x="4160520" y="3657600"/>
            <a:ext cx="502920" cy="502920"/>
          </a:xfrm>
          <a:prstGeom prst="ellipse">
            <a:avLst/>
          </a:prstGeom>
          <a:solidFill>
            <a:srgbClr val="E4572E"/>
          </a:solidFill>
          <a:ln/>
        </p:spPr>
      </p:sp>
      <p:sp>
        <p:nvSpPr>
          <p:cNvPr id="18" name="Text 16"/>
          <p:cNvSpPr txBox="1"/>
          <p:nvPr/>
        </p:nvSpPr>
        <p:spPr>
          <a:xfrm>
            <a:off x="4160520" y="365760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4892040" y="3630168"/>
            <a:ext cx="6675120" cy="365760"/>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Pay and promotion drive exits</a:t>
            </a:r>
            <a:endParaRPr lang="en-US" sz="1600" dirty="0"/>
          </a:p>
        </p:txBody>
      </p:sp>
      <p:sp>
        <p:nvSpPr>
          <p:cNvPr id="20" name="Text 18"/>
          <p:cNvSpPr txBox="1"/>
          <p:nvPr/>
        </p:nvSpPr>
        <p:spPr>
          <a:xfrm>
            <a:off x="4892040" y="4005072"/>
            <a:ext cx="6675120" cy="548640"/>
          </a:xfrm>
          <a:prstGeom prst="rect">
            <a:avLst/>
          </a:prstGeom>
          <a:noFill/>
          <a:ln/>
        </p:spPr>
        <p:txBody>
          <a:bodyPr wrap="square" lIns="0" tIns="0" rIns="0" bIns="0" rtlCol="0" anchor="ctr"/>
          <a:lstStyle/>
          <a:p>
            <a:pPr marL="0" indent="0">
              <a:lnSpc>
                <a:spcPct val="115000"/>
              </a:lnSpc>
              <a:buNone/>
            </a:pPr>
            <a:r>
              <a:rPr lang="en-US" sz="1250" dirty="0">
                <a:solidFill>
                  <a:srgbClr val="5D7290"/>
                </a:solidFill>
                <a:latin typeface="Calibri" pitchFamily="34" charset="0"/>
                <a:ea typeface="Calibri" pitchFamily="34" charset="-122"/>
                <a:cs typeface="Calibri" pitchFamily="34" charset="-120"/>
              </a:rPr>
              <a:t>Low earners leave 4x more often than top earners; lack of promotion shows a similar gap.</a:t>
            </a:r>
            <a:endParaRPr lang="en-US" sz="1250" dirty="0"/>
          </a:p>
        </p:txBody>
      </p:sp>
      <p:sp>
        <p:nvSpPr>
          <p:cNvPr id="21" name="Shape 19"/>
          <p:cNvSpPr/>
          <p:nvPr/>
        </p:nvSpPr>
        <p:spPr>
          <a:xfrm>
            <a:off x="4160520" y="4881880"/>
            <a:ext cx="3429000" cy="1097280"/>
          </a:xfrm>
          <a:prstGeom prst="roundRect">
            <a:avLst>
              <a:gd name="adj" fmla="val 8333"/>
            </a:avLst>
          </a:prstGeom>
          <a:solidFill>
            <a:srgbClr val="F4F6FB"/>
          </a:solidFill>
          <a:ln w="12700">
            <a:solidFill>
              <a:srgbClr val="DDE4F2"/>
            </a:solidFill>
            <a:prstDash val="solid"/>
          </a:ln>
        </p:spPr>
      </p:sp>
      <p:sp>
        <p:nvSpPr>
          <p:cNvPr id="22" name="Text 20"/>
          <p:cNvSpPr txBox="1"/>
          <p:nvPr/>
        </p:nvSpPr>
        <p:spPr>
          <a:xfrm>
            <a:off x="4343400" y="4892040"/>
            <a:ext cx="1371600" cy="1097280"/>
          </a:xfrm>
          <a:prstGeom prst="rect">
            <a:avLst/>
          </a:prstGeom>
          <a:noFill/>
          <a:ln/>
        </p:spPr>
        <p:txBody>
          <a:bodyPr wrap="square" lIns="0" tIns="0" rIns="0" bIns="0" rtlCol="0" anchor="ctr"/>
          <a:lstStyle/>
          <a:p>
            <a:pPr marL="0" indent="0">
              <a:buNone/>
            </a:pPr>
            <a:r>
              <a:rPr lang="en-US" sz="2600" b="1" dirty="0">
                <a:solidFill>
                  <a:srgbClr val="3A6EA5"/>
                </a:solidFill>
                <a:latin typeface="Cambria" pitchFamily="34" charset="0"/>
                <a:ea typeface="Cambria" pitchFamily="34" charset="-122"/>
                <a:cs typeface="Cambria" pitchFamily="34" charset="-120"/>
              </a:rPr>
              <a:t>82%</a:t>
            </a:r>
            <a:endParaRPr lang="en-US" sz="2600" dirty="0"/>
          </a:p>
        </p:txBody>
      </p:sp>
      <p:sp>
        <p:nvSpPr>
          <p:cNvPr id="23" name="Text 21"/>
          <p:cNvSpPr txBox="1"/>
          <p:nvPr/>
        </p:nvSpPr>
        <p:spPr>
          <a:xfrm>
            <a:off x="5715000" y="4892040"/>
            <a:ext cx="1737360" cy="1097280"/>
          </a:xfrm>
          <a:prstGeom prst="rect">
            <a:avLst/>
          </a:prstGeom>
          <a:noFill/>
          <a:ln/>
        </p:spPr>
        <p:txBody>
          <a:bodyPr wrap="square" lIns="0" tIns="0" rIns="0" bIns="0" rtlCol="0" anchor="ctr"/>
          <a:lstStyle/>
          <a:p>
            <a:pPr marL="0" indent="0">
              <a:lnSpc>
                <a:spcPct val="115000"/>
              </a:lnSpc>
              <a:buNone/>
            </a:pPr>
            <a:r>
              <a:rPr lang="en-US" sz="1050" dirty="0">
                <a:solidFill>
                  <a:srgbClr val="5D7290"/>
                </a:solidFill>
                <a:latin typeface="Calibri" pitchFamily="34" charset="0"/>
                <a:ea typeface="Calibri" pitchFamily="34" charset="-122"/>
                <a:cs typeface="Calibri" pitchFamily="34" charset="-120"/>
              </a:rPr>
              <a:t>of true leavers caught</a:t>
            </a:r>
            <a:endParaRPr lang="en-US" sz="1050" dirty="0"/>
          </a:p>
          <a:p>
            <a:pPr marL="0" indent="0">
              <a:lnSpc>
                <a:spcPct val="115000"/>
              </a:lnSpc>
              <a:buNone/>
            </a:pPr>
            <a:r>
              <a:rPr lang="en-US" sz="1050" dirty="0">
                <a:solidFill>
                  <a:srgbClr val="5D7290"/>
                </a:solidFill>
                <a:latin typeface="Calibri" pitchFamily="34" charset="0"/>
                <a:ea typeface="Calibri" pitchFamily="34" charset="-122"/>
                <a:cs typeface="Calibri" pitchFamily="34" charset="-120"/>
              </a:rPr>
              <a:t>by our predictive model</a:t>
            </a:r>
            <a:endParaRPr lang="en-US" sz="1050" dirty="0"/>
          </a:p>
        </p:txBody>
      </p:sp>
      <p:sp>
        <p:nvSpPr>
          <p:cNvPr id="24" name="Shape 22"/>
          <p:cNvSpPr/>
          <p:nvPr/>
        </p:nvSpPr>
        <p:spPr>
          <a:xfrm>
            <a:off x="7726680" y="4892040"/>
            <a:ext cx="3886200" cy="1097280"/>
          </a:xfrm>
          <a:prstGeom prst="roundRect">
            <a:avLst>
              <a:gd name="adj" fmla="val 8333"/>
            </a:avLst>
          </a:prstGeom>
          <a:solidFill>
            <a:srgbClr val="F4F6FB"/>
          </a:solidFill>
          <a:ln w="12700">
            <a:solidFill>
              <a:srgbClr val="DDE4F2"/>
            </a:solidFill>
            <a:prstDash val="solid"/>
          </a:ln>
        </p:spPr>
      </p:sp>
      <p:sp>
        <p:nvSpPr>
          <p:cNvPr id="25" name="Text 23"/>
          <p:cNvSpPr txBox="1"/>
          <p:nvPr/>
        </p:nvSpPr>
        <p:spPr>
          <a:xfrm>
            <a:off x="7909560" y="4892040"/>
            <a:ext cx="914400" cy="1097280"/>
          </a:xfrm>
          <a:prstGeom prst="rect">
            <a:avLst/>
          </a:prstGeom>
          <a:noFill/>
          <a:ln/>
        </p:spPr>
        <p:txBody>
          <a:bodyPr wrap="square" lIns="0" tIns="0" rIns="0" bIns="0" rtlCol="0" anchor="ctr"/>
          <a:lstStyle/>
          <a:p>
            <a:pPr marL="0" indent="0">
              <a:buNone/>
            </a:pPr>
            <a:r>
              <a:rPr lang="en-US" sz="2600" b="1" dirty="0">
                <a:solidFill>
                  <a:srgbClr val="3A6EA5"/>
                </a:solidFill>
                <a:latin typeface="Cambria" pitchFamily="34" charset="0"/>
                <a:ea typeface="Cambria" pitchFamily="34" charset="-122"/>
                <a:cs typeface="Cambria" pitchFamily="34" charset="-120"/>
              </a:rPr>
              <a:t>3</a:t>
            </a:r>
            <a:endParaRPr lang="en-US" sz="2600" dirty="0"/>
          </a:p>
        </p:txBody>
      </p:sp>
      <p:sp>
        <p:nvSpPr>
          <p:cNvPr id="26" name="Text 24"/>
          <p:cNvSpPr txBox="1"/>
          <p:nvPr/>
        </p:nvSpPr>
        <p:spPr>
          <a:xfrm>
            <a:off x="8732520" y="4892040"/>
            <a:ext cx="2743200" cy="1097280"/>
          </a:xfrm>
          <a:prstGeom prst="rect">
            <a:avLst/>
          </a:prstGeom>
          <a:noFill/>
          <a:ln/>
        </p:spPr>
        <p:txBody>
          <a:bodyPr wrap="square" lIns="0" tIns="0" rIns="0" bIns="0" rtlCol="0" anchor="ctr"/>
          <a:lstStyle/>
          <a:p>
            <a:pPr marL="0" indent="0">
              <a:lnSpc>
                <a:spcPct val="115000"/>
              </a:lnSpc>
              <a:buNone/>
            </a:pPr>
            <a:r>
              <a:rPr lang="en-US" sz="1050" dirty="0">
                <a:solidFill>
                  <a:srgbClr val="5D7290"/>
                </a:solidFill>
                <a:latin typeface="Calibri" pitchFamily="34" charset="0"/>
                <a:ea typeface="Calibri" pitchFamily="34" charset="-122"/>
                <a:cs typeface="Calibri" pitchFamily="34" charset="-120"/>
              </a:rPr>
              <a:t>actionable recommendations</a:t>
            </a:r>
            <a:endParaRPr lang="en-US" sz="1050" dirty="0"/>
          </a:p>
          <a:p>
            <a:pPr marL="0" indent="0">
              <a:lnSpc>
                <a:spcPct val="115000"/>
              </a:lnSpc>
              <a:buNone/>
            </a:pPr>
            <a:r>
              <a:rPr lang="en-US" sz="1050" dirty="0">
                <a:solidFill>
                  <a:srgbClr val="5D7290"/>
                </a:solidFill>
                <a:latin typeface="Calibri" pitchFamily="34" charset="0"/>
                <a:ea typeface="Calibri" pitchFamily="34" charset="-122"/>
                <a:cs typeface="Calibri" pitchFamily="34" charset="-120"/>
              </a:rPr>
              <a:t>for HR - see slide 8</a:t>
            </a:r>
            <a:endParaRPr lang="en-US" sz="1050" dirty="0"/>
          </a:p>
        </p:txBody>
      </p:sp>
      <p:sp>
        <p:nvSpPr>
          <p:cNvPr id="27" name="Text 25"/>
          <p:cNvSpPr txBox="1"/>
          <p:nvPr/>
        </p:nvSpPr>
        <p:spPr>
          <a:xfrm>
            <a:off x="457200" y="6510528"/>
            <a:ext cx="6400800" cy="274320"/>
          </a:xfrm>
          <a:prstGeom prst="rect">
            <a:avLst/>
          </a:prstGeom>
          <a:noFill/>
          <a:ln/>
        </p:spPr>
        <p:txBody>
          <a:bodyPr wrap="square" lIns="0" tIns="0" rIns="0" bIns="0" rtlCol="0" anchor="ctr"/>
          <a:lstStyle/>
          <a:p>
            <a:pPr marL="0" indent="0" algn="l">
              <a:buNone/>
            </a:pPr>
            <a:r>
              <a:rPr lang="en-US" sz="900" dirty="0">
                <a:solidFill>
                  <a:srgbClr val="5D7290"/>
                </a:solidFill>
                <a:latin typeface="Calibri" pitchFamily="34" charset="0"/>
                <a:ea typeface="Calibri" pitchFamily="34" charset="-122"/>
                <a:cs typeface="Calibri" pitchFamily="34" charset="-120"/>
              </a:rPr>
              <a:t>HR Attrition |  Iman Ashoori</a:t>
            </a:r>
            <a:endParaRPr lang="en-US" sz="900" dirty="0"/>
          </a:p>
        </p:txBody>
      </p:sp>
      <p:sp>
        <p:nvSpPr>
          <p:cNvPr id="28" name="Text 26"/>
          <p:cNvSpPr txBox="1"/>
          <p:nvPr/>
        </p:nvSpPr>
        <p:spPr>
          <a:xfrm>
            <a:off x="11521440" y="6510528"/>
            <a:ext cx="457200" cy="274320"/>
          </a:xfrm>
          <a:prstGeom prst="rect">
            <a:avLst/>
          </a:prstGeom>
          <a:noFill/>
          <a:ln/>
        </p:spPr>
        <p:txBody>
          <a:bodyPr wrap="square" lIns="0" tIns="0" rIns="0" bIns="0" rtlCol="0" anchor="ctr"/>
          <a:lstStyle/>
          <a:p>
            <a:pPr marL="0" indent="0" algn="r">
              <a:buNone/>
            </a:pPr>
            <a:r>
              <a:rPr lang="en-US" sz="900" dirty="0">
                <a:solidFill>
                  <a:srgbClr val="5D729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dirty="0">
                <a:solidFill>
                  <a:srgbClr val="E4572E"/>
                </a:solidFill>
                <a:latin typeface="Calibri" pitchFamily="34" charset="0"/>
                <a:ea typeface="Calibri" pitchFamily="34" charset="-122"/>
                <a:cs typeface="Calibri" pitchFamily="34" charset="-120"/>
              </a:rPr>
              <a:t>ASK &amp; PREPARE</a:t>
            </a:r>
            <a:endParaRPr lang="en-US" sz="13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Why This Matters</a:t>
            </a:r>
            <a:endParaRPr lang="en-US" sz="3200" dirty="0"/>
          </a:p>
        </p:txBody>
      </p:sp>
      <p:sp>
        <p:nvSpPr>
          <p:cNvPr id="4" name="Text 2"/>
          <p:cNvSpPr txBox="1"/>
          <p:nvPr/>
        </p:nvSpPr>
        <p:spPr>
          <a:xfrm>
            <a:off x="548640" y="1737360"/>
            <a:ext cx="6035040" cy="320040"/>
          </a:xfrm>
          <a:prstGeom prst="rect">
            <a:avLst/>
          </a:prstGeom>
          <a:noFill/>
          <a:ln/>
        </p:spPr>
        <p:txBody>
          <a:bodyPr wrap="square" lIns="0" tIns="0" rIns="0" bIns="0" rtlCol="0" anchor="ctr"/>
          <a:lstStyle/>
          <a:p>
            <a:pPr marL="0" indent="0">
              <a:buNone/>
            </a:pPr>
            <a:r>
              <a:rPr lang="en-US" sz="1300" b="1" dirty="0">
                <a:solidFill>
                  <a:srgbClr val="E4572E"/>
                </a:solidFill>
                <a:latin typeface="Calibri" pitchFamily="34" charset="0"/>
                <a:ea typeface="Calibri" pitchFamily="34" charset="-122"/>
                <a:cs typeface="Calibri" pitchFamily="34" charset="-120"/>
              </a:rPr>
              <a:t>Business task</a:t>
            </a:r>
            <a:endParaRPr lang="en-US" sz="1300" dirty="0"/>
          </a:p>
        </p:txBody>
      </p:sp>
      <p:sp>
        <p:nvSpPr>
          <p:cNvPr id="5" name="Text 3"/>
          <p:cNvSpPr txBox="1"/>
          <p:nvPr/>
        </p:nvSpPr>
        <p:spPr>
          <a:xfrm>
            <a:off x="548640" y="2057400"/>
            <a:ext cx="6035040" cy="914400"/>
          </a:xfrm>
          <a:prstGeom prst="rect">
            <a:avLst/>
          </a:prstGeom>
          <a:noFill/>
          <a:ln/>
        </p:spPr>
        <p:txBody>
          <a:bodyPr wrap="square" lIns="0" tIns="0" rIns="0" bIns="0" rtlCol="0" anchor="ctr"/>
          <a:lstStyle/>
          <a:p>
            <a:pPr marL="0" indent="0">
              <a:lnSpc>
                <a:spcPct val="125000"/>
              </a:lnSpc>
              <a:buNone/>
            </a:pPr>
            <a:r>
              <a:rPr lang="en-US" sz="1500" dirty="0">
                <a:solidFill>
                  <a:srgbClr val="1E2761"/>
                </a:solidFill>
                <a:latin typeface="Calibri" pitchFamily="34" charset="0"/>
                <a:ea typeface="Calibri" pitchFamily="34" charset="-122"/>
                <a:cs typeface="Calibri" pitchFamily="34" charset="-120"/>
              </a:rPr>
              <a:t>Understand why employees leave the company and identify the factors driving attrition, so HR can design targeted, preventive retention programs.</a:t>
            </a:r>
            <a:endParaRPr lang="en-US" sz="1500" dirty="0"/>
          </a:p>
        </p:txBody>
      </p:sp>
      <p:sp>
        <p:nvSpPr>
          <p:cNvPr id="6" name="Text 4"/>
          <p:cNvSpPr txBox="1"/>
          <p:nvPr/>
        </p:nvSpPr>
        <p:spPr>
          <a:xfrm>
            <a:off x="548640" y="3063240"/>
            <a:ext cx="6035040" cy="320040"/>
          </a:xfrm>
          <a:prstGeom prst="rect">
            <a:avLst/>
          </a:prstGeom>
          <a:noFill/>
          <a:ln/>
        </p:spPr>
        <p:txBody>
          <a:bodyPr wrap="square" lIns="0" tIns="0" rIns="0" bIns="0" rtlCol="0" anchor="ctr"/>
          <a:lstStyle/>
          <a:p>
            <a:pPr marL="0" indent="0">
              <a:buNone/>
            </a:pPr>
            <a:r>
              <a:rPr lang="en-US" sz="1300" b="1" dirty="0">
                <a:solidFill>
                  <a:srgbClr val="E4572E"/>
                </a:solidFill>
                <a:latin typeface="Calibri" pitchFamily="34" charset="0"/>
                <a:ea typeface="Calibri" pitchFamily="34" charset="-122"/>
                <a:cs typeface="Calibri" pitchFamily="34" charset="-120"/>
              </a:rPr>
              <a:t>Audience</a:t>
            </a:r>
            <a:endParaRPr lang="en-US" sz="1300" dirty="0"/>
          </a:p>
        </p:txBody>
      </p:sp>
      <p:sp>
        <p:nvSpPr>
          <p:cNvPr id="7" name="Text 5"/>
          <p:cNvSpPr txBox="1"/>
          <p:nvPr/>
        </p:nvSpPr>
        <p:spPr>
          <a:xfrm>
            <a:off x="548640" y="3364992"/>
            <a:ext cx="6035040" cy="548640"/>
          </a:xfrm>
          <a:prstGeom prst="rect">
            <a:avLst/>
          </a:prstGeom>
          <a:noFill/>
          <a:ln/>
        </p:spPr>
        <p:txBody>
          <a:bodyPr wrap="square" lIns="0" tIns="0" rIns="0" bIns="0" rtlCol="0" anchor="ctr"/>
          <a:lstStyle/>
          <a:p>
            <a:pPr marL="0" indent="0">
              <a:lnSpc>
                <a:spcPct val="120000"/>
              </a:lnSpc>
              <a:buNone/>
            </a:pPr>
            <a:r>
              <a:rPr lang="en-US" sz="1500" dirty="0">
                <a:solidFill>
                  <a:srgbClr val="1E2761"/>
                </a:solidFill>
                <a:latin typeface="Calibri" pitchFamily="34" charset="0"/>
                <a:ea typeface="Calibri" pitchFamily="34" charset="-122"/>
                <a:cs typeface="Calibri" pitchFamily="34" charset="-120"/>
              </a:rPr>
              <a:t>HR leadership team - a non-technical audience focused on decisions, not statistics.</a:t>
            </a:r>
            <a:endParaRPr lang="en-US" sz="1500" dirty="0"/>
          </a:p>
        </p:txBody>
      </p:sp>
      <p:sp>
        <p:nvSpPr>
          <p:cNvPr id="8" name="Text 6"/>
          <p:cNvSpPr txBox="1"/>
          <p:nvPr/>
        </p:nvSpPr>
        <p:spPr>
          <a:xfrm>
            <a:off x="548640" y="4069080"/>
            <a:ext cx="6035040" cy="320040"/>
          </a:xfrm>
          <a:prstGeom prst="rect">
            <a:avLst/>
          </a:prstGeom>
          <a:noFill/>
          <a:ln/>
        </p:spPr>
        <p:txBody>
          <a:bodyPr wrap="square" lIns="0" tIns="0" rIns="0" bIns="0" rtlCol="0" anchor="ctr"/>
          <a:lstStyle/>
          <a:p>
            <a:pPr marL="0" indent="0">
              <a:buNone/>
            </a:pPr>
            <a:r>
              <a:rPr lang="en-US" sz="1300" b="1" dirty="0">
                <a:solidFill>
                  <a:srgbClr val="E4572E"/>
                </a:solidFill>
                <a:latin typeface="Calibri" pitchFamily="34" charset="0"/>
                <a:ea typeface="Calibri" pitchFamily="34" charset="-122"/>
                <a:cs typeface="Calibri" pitchFamily="34" charset="-120"/>
              </a:rPr>
              <a:t>Success criteria</a:t>
            </a:r>
            <a:endParaRPr lang="en-US" sz="1300" dirty="0"/>
          </a:p>
        </p:txBody>
      </p:sp>
      <p:sp>
        <p:nvSpPr>
          <p:cNvPr id="9" name="Text 7"/>
          <p:cNvSpPr txBox="1"/>
          <p:nvPr/>
        </p:nvSpPr>
        <p:spPr>
          <a:xfrm>
            <a:off x="548640" y="4370832"/>
            <a:ext cx="6035040" cy="640080"/>
          </a:xfrm>
          <a:prstGeom prst="rect">
            <a:avLst/>
          </a:prstGeom>
          <a:noFill/>
          <a:ln/>
        </p:spPr>
        <p:txBody>
          <a:bodyPr wrap="square" lIns="0" tIns="0" rIns="0" bIns="0" rtlCol="0" anchor="ctr"/>
          <a:lstStyle/>
          <a:p>
            <a:pPr marL="0" indent="0">
              <a:lnSpc>
                <a:spcPct val="120000"/>
              </a:lnSpc>
              <a:buNone/>
            </a:pPr>
            <a:r>
              <a:rPr lang="en-US" sz="1500" dirty="0">
                <a:solidFill>
                  <a:srgbClr val="1E2761"/>
                </a:solidFill>
                <a:latin typeface="Calibri" pitchFamily="34" charset="0"/>
                <a:ea typeface="Calibri" pitchFamily="34" charset="-122"/>
                <a:cs typeface="Calibri" pitchFamily="34" charset="-120"/>
              </a:rPr>
              <a:t>Identify at least 3 key drivers of attrition and deliver 2-3 concrete recommendations to reduce the exit rate.</a:t>
            </a:r>
            <a:endParaRPr lang="en-US" sz="1500" dirty="0"/>
          </a:p>
        </p:txBody>
      </p:sp>
      <p:sp>
        <p:nvSpPr>
          <p:cNvPr id="10" name="Text 8"/>
          <p:cNvSpPr txBox="1"/>
          <p:nvPr/>
        </p:nvSpPr>
        <p:spPr>
          <a:xfrm>
            <a:off x="548640" y="5989320"/>
            <a:ext cx="6035040" cy="274320"/>
          </a:xfrm>
          <a:prstGeom prst="rect">
            <a:avLst/>
          </a:prstGeom>
          <a:noFill/>
          <a:ln/>
        </p:spPr>
        <p:txBody>
          <a:bodyPr wrap="square" lIns="0" tIns="0" rIns="0" bIns="0" rtlCol="0" anchor="ctr"/>
          <a:lstStyle/>
          <a:p>
            <a:pPr marL="0" indent="0">
              <a:buNone/>
            </a:pPr>
            <a:r>
              <a:rPr lang="en-US" sz="1050" i="1" dirty="0">
                <a:solidFill>
                  <a:srgbClr val="5D7290"/>
                </a:solidFill>
                <a:latin typeface="Calibri" pitchFamily="34" charset="0"/>
                <a:ea typeface="Calibri" pitchFamily="34" charset="-122"/>
                <a:cs typeface="Calibri" pitchFamily="34" charset="-120"/>
              </a:rPr>
              <a:t>Source: HR analytics dataset, Kaggle  ·  14,999 employee records</a:t>
            </a:r>
            <a:endParaRPr lang="en-US" sz="1050" dirty="0"/>
          </a:p>
        </p:txBody>
      </p:sp>
      <p:sp>
        <p:nvSpPr>
          <p:cNvPr id="11" name="Shape 9"/>
          <p:cNvSpPr/>
          <p:nvPr/>
        </p:nvSpPr>
        <p:spPr>
          <a:xfrm>
            <a:off x="7040880" y="1737360"/>
            <a:ext cx="4572000" cy="4434840"/>
          </a:xfrm>
          <a:prstGeom prst="roundRect">
            <a:avLst>
              <a:gd name="adj" fmla="val 2474"/>
            </a:avLst>
          </a:prstGeom>
          <a:solidFill>
            <a:srgbClr val="F4F6FB"/>
          </a:solidFill>
          <a:ln w="12700">
            <a:solidFill>
              <a:srgbClr val="DDE4F2"/>
            </a:solidFill>
            <a:prstDash val="solid"/>
          </a:ln>
        </p:spPr>
      </p:sp>
      <p:sp>
        <p:nvSpPr>
          <p:cNvPr id="12" name="Text 10"/>
          <p:cNvSpPr txBox="1"/>
          <p:nvPr/>
        </p:nvSpPr>
        <p:spPr>
          <a:xfrm>
            <a:off x="7360920" y="1965960"/>
            <a:ext cx="3931920" cy="36576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Data Quality Check</a:t>
            </a:r>
            <a:endParaRPr lang="en-US" sz="1500" dirty="0"/>
          </a:p>
        </p:txBody>
      </p:sp>
      <p:sp>
        <p:nvSpPr>
          <p:cNvPr id="13" name="Text 11"/>
          <p:cNvSpPr txBox="1"/>
          <p:nvPr/>
        </p:nvSpPr>
        <p:spPr>
          <a:xfrm>
            <a:off x="7360920" y="2377440"/>
            <a:ext cx="3931920" cy="640080"/>
          </a:xfrm>
          <a:prstGeom prst="rect">
            <a:avLst/>
          </a:prstGeom>
          <a:noFill/>
          <a:ln/>
        </p:spPr>
        <p:txBody>
          <a:bodyPr wrap="square" lIns="0" tIns="0" rIns="0" bIns="0" rtlCol="0" anchor="ctr"/>
          <a:lstStyle/>
          <a:p>
            <a:pPr marL="0" indent="0">
              <a:lnSpc>
                <a:spcPct val="120000"/>
              </a:lnSpc>
              <a:buNone/>
            </a:pPr>
            <a:r>
              <a:rPr lang="en-US" sz="1200" dirty="0">
                <a:solidFill>
                  <a:srgbClr val="5D7290"/>
                </a:solidFill>
                <a:latin typeface="Calibri" pitchFamily="34" charset="0"/>
                <a:ea typeface="Calibri" pitchFamily="34" charset="-122"/>
                <a:cs typeface="Calibri" pitchFamily="34" charset="-120"/>
              </a:rPr>
              <a:t>3,008 duplicate records (20% of the dataset) were identified and removed before analysis.</a:t>
            </a:r>
            <a:endParaRPr lang="en-US" sz="1200" dirty="0"/>
          </a:p>
        </p:txBody>
      </p:sp>
      <p:sp>
        <p:nvSpPr>
          <p:cNvPr id="14" name="Text 12"/>
          <p:cNvSpPr txBox="1"/>
          <p:nvPr/>
        </p:nvSpPr>
        <p:spPr>
          <a:xfrm>
            <a:off x="7360920" y="3154680"/>
            <a:ext cx="1737360" cy="548640"/>
          </a:xfrm>
          <a:prstGeom prst="rect">
            <a:avLst/>
          </a:prstGeom>
          <a:noFill/>
          <a:ln/>
        </p:spPr>
        <p:txBody>
          <a:bodyPr wrap="square" lIns="0" tIns="0" rIns="0" bIns="0" rtlCol="0" anchor="ctr"/>
          <a:lstStyle/>
          <a:p>
            <a:pPr marL="0" indent="0">
              <a:buNone/>
            </a:pPr>
            <a:r>
              <a:rPr lang="en-US" sz="2600" b="1" dirty="0">
                <a:solidFill>
                  <a:srgbClr val="B0B8D4"/>
                </a:solidFill>
                <a:latin typeface="Cambria" pitchFamily="34" charset="0"/>
                <a:ea typeface="Cambria" pitchFamily="34" charset="-122"/>
                <a:cs typeface="Cambria" pitchFamily="34" charset="-120"/>
              </a:rPr>
              <a:t>23.8%</a:t>
            </a:r>
            <a:endParaRPr lang="en-US" sz="2600" dirty="0"/>
          </a:p>
        </p:txBody>
      </p:sp>
      <p:sp>
        <p:nvSpPr>
          <p:cNvPr id="15" name="Text 13"/>
          <p:cNvSpPr txBox="1"/>
          <p:nvPr/>
        </p:nvSpPr>
        <p:spPr>
          <a:xfrm>
            <a:off x="7360920" y="3703320"/>
            <a:ext cx="1737360" cy="457200"/>
          </a:xfrm>
          <a:prstGeom prst="rect">
            <a:avLst/>
          </a:prstGeom>
          <a:noFill/>
          <a:ln/>
        </p:spPr>
        <p:txBody>
          <a:bodyPr wrap="square" lIns="0" tIns="0" rIns="0" bIns="0" rtlCol="0" anchor="ctr"/>
          <a:lstStyle/>
          <a:p>
            <a:pPr marL="0" indent="0">
              <a:lnSpc>
                <a:spcPct val="110000"/>
              </a:lnSpc>
              <a:buNone/>
            </a:pPr>
            <a:r>
              <a:rPr lang="en-US" sz="1000" dirty="0">
                <a:solidFill>
                  <a:srgbClr val="5D7290"/>
                </a:solidFill>
                <a:latin typeface="Calibri" pitchFamily="34" charset="0"/>
                <a:ea typeface="Calibri" pitchFamily="34" charset="-122"/>
                <a:cs typeface="Calibri" pitchFamily="34" charset="-120"/>
              </a:rPr>
              <a:t>raw data</a:t>
            </a:r>
            <a:endParaRPr lang="en-US" sz="1000" dirty="0"/>
          </a:p>
          <a:p>
            <a:pPr marL="0" indent="0">
              <a:lnSpc>
                <a:spcPct val="110000"/>
              </a:lnSpc>
              <a:buNone/>
            </a:pPr>
            <a:r>
              <a:rPr lang="en-US" sz="1000" dirty="0">
                <a:solidFill>
                  <a:srgbClr val="5D7290"/>
                </a:solidFill>
                <a:latin typeface="Calibri" pitchFamily="34" charset="0"/>
                <a:ea typeface="Calibri" pitchFamily="34" charset="-122"/>
                <a:cs typeface="Calibri" pitchFamily="34" charset="-120"/>
              </a:rPr>
              <a:t>(with duplicates)</a:t>
            </a:r>
            <a:endParaRPr lang="en-US" sz="1000" dirty="0"/>
          </a:p>
        </p:txBody>
      </p:sp>
      <p:sp>
        <p:nvSpPr>
          <p:cNvPr id="16" name="Text 14"/>
          <p:cNvSpPr txBox="1"/>
          <p:nvPr/>
        </p:nvSpPr>
        <p:spPr>
          <a:xfrm>
            <a:off x="9052560" y="3246120"/>
            <a:ext cx="548640" cy="548640"/>
          </a:xfrm>
          <a:prstGeom prst="rect">
            <a:avLst/>
          </a:prstGeom>
          <a:noFill/>
          <a:ln/>
        </p:spPr>
        <p:txBody>
          <a:bodyPr wrap="square" lIns="0" tIns="0" rIns="0" bIns="0" rtlCol="0" anchor="ctr"/>
          <a:lstStyle/>
          <a:p>
            <a:pPr marL="0" indent="0" algn="ctr">
              <a:buNone/>
            </a:pPr>
            <a:r>
              <a:rPr lang="en-US" sz="2600" dirty="0">
                <a:solidFill>
                  <a:srgbClr val="E4572E"/>
                </a:solidFill>
                <a:latin typeface="Calibri" pitchFamily="34" charset="0"/>
                <a:ea typeface="Calibri" pitchFamily="34" charset="-122"/>
                <a:cs typeface="Calibri" pitchFamily="34" charset="-120"/>
              </a:rPr>
              <a:t>→</a:t>
            </a:r>
            <a:endParaRPr lang="en-US" sz="2600" dirty="0"/>
          </a:p>
        </p:txBody>
      </p:sp>
      <p:sp>
        <p:nvSpPr>
          <p:cNvPr id="17" name="Text 15"/>
          <p:cNvSpPr txBox="1"/>
          <p:nvPr/>
        </p:nvSpPr>
        <p:spPr>
          <a:xfrm>
            <a:off x="9601200" y="3154680"/>
            <a:ext cx="1737360" cy="548640"/>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16.6%</a:t>
            </a:r>
            <a:endParaRPr lang="en-US" sz="2600" dirty="0"/>
          </a:p>
        </p:txBody>
      </p:sp>
      <p:sp>
        <p:nvSpPr>
          <p:cNvPr id="18" name="Text 16"/>
          <p:cNvSpPr txBox="1"/>
          <p:nvPr/>
        </p:nvSpPr>
        <p:spPr>
          <a:xfrm>
            <a:off x="9601200" y="3703320"/>
            <a:ext cx="1737360" cy="457200"/>
          </a:xfrm>
          <a:prstGeom prst="rect">
            <a:avLst/>
          </a:prstGeom>
          <a:noFill/>
          <a:ln/>
        </p:spPr>
        <p:txBody>
          <a:bodyPr wrap="square" lIns="0" tIns="0" rIns="0" bIns="0" rtlCol="0" anchor="ctr"/>
          <a:lstStyle/>
          <a:p>
            <a:pPr marL="0" indent="0">
              <a:lnSpc>
                <a:spcPct val="110000"/>
              </a:lnSpc>
              <a:buNone/>
            </a:pPr>
            <a:r>
              <a:rPr lang="en-US" sz="1000" dirty="0">
                <a:solidFill>
                  <a:srgbClr val="5D7290"/>
                </a:solidFill>
                <a:latin typeface="Calibri" pitchFamily="34" charset="0"/>
                <a:ea typeface="Calibri" pitchFamily="34" charset="-122"/>
                <a:cs typeface="Calibri" pitchFamily="34" charset="-120"/>
              </a:rPr>
              <a:t>cleaned data</a:t>
            </a:r>
            <a:endParaRPr lang="en-US" sz="1000" dirty="0"/>
          </a:p>
          <a:p>
            <a:pPr marL="0" indent="0">
              <a:lnSpc>
                <a:spcPct val="110000"/>
              </a:lnSpc>
              <a:buNone/>
            </a:pPr>
            <a:r>
              <a:rPr lang="en-US" sz="1000" dirty="0">
                <a:solidFill>
                  <a:srgbClr val="5D7290"/>
                </a:solidFill>
                <a:latin typeface="Calibri" pitchFamily="34" charset="0"/>
                <a:ea typeface="Calibri" pitchFamily="34" charset="-122"/>
                <a:cs typeface="Calibri" pitchFamily="34" charset="-120"/>
              </a:rPr>
              <a:t>(accurate baseline)</a:t>
            </a:r>
            <a:endParaRPr lang="en-US" sz="1000" dirty="0"/>
          </a:p>
        </p:txBody>
      </p:sp>
      <p:sp>
        <p:nvSpPr>
          <p:cNvPr id="19" name="Shape 17"/>
          <p:cNvSpPr/>
          <p:nvPr/>
        </p:nvSpPr>
        <p:spPr>
          <a:xfrm>
            <a:off x="7360920" y="4343400"/>
            <a:ext cx="3931920" cy="13716"/>
          </a:xfrm>
          <a:prstGeom prst="rect">
            <a:avLst/>
          </a:prstGeom>
          <a:solidFill>
            <a:srgbClr val="DDE4F2"/>
          </a:solidFill>
          <a:ln/>
        </p:spPr>
      </p:sp>
      <p:sp>
        <p:nvSpPr>
          <p:cNvPr id="20" name="Text 18"/>
          <p:cNvSpPr txBox="1"/>
          <p:nvPr/>
        </p:nvSpPr>
        <p:spPr>
          <a:xfrm>
            <a:off x="7360920" y="4526280"/>
            <a:ext cx="3931920" cy="1463040"/>
          </a:xfrm>
          <a:prstGeom prst="rect">
            <a:avLst/>
          </a:prstGeom>
          <a:noFill/>
          <a:ln/>
        </p:spPr>
        <p:txBody>
          <a:bodyPr wrap="square" lIns="0" tIns="0" rIns="0" bIns="0" rtlCol="0" anchor="ctr"/>
          <a:lstStyle/>
          <a:p>
            <a:pPr marL="0" indent="0">
              <a:lnSpc>
                <a:spcPct val="125000"/>
              </a:lnSpc>
              <a:buNone/>
            </a:pPr>
            <a:r>
              <a:rPr lang="en-US" sz="1150" i="1" dirty="0">
                <a:solidFill>
                  <a:srgbClr val="5D7290"/>
                </a:solidFill>
                <a:latin typeface="Calibri" pitchFamily="34" charset="0"/>
                <a:ea typeface="Calibri" pitchFamily="34" charset="-122"/>
                <a:cs typeface="Calibri" pitchFamily="34" charset="-120"/>
              </a:rPr>
              <a:t>Removing duplicates alone corrected the estimated attrition rate by 7.2 percentage points - a meaningful methodological step before any conclusions were drawn.</a:t>
            </a:r>
            <a:endParaRPr lang="en-US" sz="1150" dirty="0"/>
          </a:p>
        </p:txBody>
      </p:sp>
      <p:sp>
        <p:nvSpPr>
          <p:cNvPr id="21" name="Text 19"/>
          <p:cNvSpPr txBox="1"/>
          <p:nvPr/>
        </p:nvSpPr>
        <p:spPr>
          <a:xfrm>
            <a:off x="457200" y="6510528"/>
            <a:ext cx="6400800" cy="274320"/>
          </a:xfrm>
          <a:prstGeom prst="rect">
            <a:avLst/>
          </a:prstGeom>
          <a:noFill/>
          <a:ln/>
        </p:spPr>
        <p:txBody>
          <a:bodyPr wrap="square" lIns="0" tIns="0" rIns="0" bIns="0" rtlCol="0" anchor="ctr"/>
          <a:lstStyle/>
          <a:p>
            <a:pPr marL="0" indent="0" algn="l">
              <a:buNone/>
            </a:pPr>
            <a:r>
              <a:rPr lang="en-US" sz="900" dirty="0">
                <a:solidFill>
                  <a:srgbClr val="5D7290"/>
                </a:solidFill>
                <a:latin typeface="Calibri" pitchFamily="34" charset="0"/>
                <a:ea typeface="Calibri" pitchFamily="34" charset="-122"/>
                <a:cs typeface="Calibri" pitchFamily="34" charset="-120"/>
              </a:rPr>
              <a:t>HR Attrition |  Iman Ashoori</a:t>
            </a:r>
            <a:endParaRPr lang="en-US" sz="900" dirty="0"/>
          </a:p>
        </p:txBody>
      </p:sp>
      <p:sp>
        <p:nvSpPr>
          <p:cNvPr id="22" name="Text 20"/>
          <p:cNvSpPr txBox="1"/>
          <p:nvPr/>
        </p:nvSpPr>
        <p:spPr>
          <a:xfrm>
            <a:off x="11521440" y="6510528"/>
            <a:ext cx="457200" cy="274320"/>
          </a:xfrm>
          <a:prstGeom prst="rect">
            <a:avLst/>
          </a:prstGeom>
          <a:noFill/>
          <a:ln/>
        </p:spPr>
        <p:txBody>
          <a:bodyPr wrap="square" lIns="0" tIns="0" rIns="0" bIns="0" rtlCol="0" anchor="ctr"/>
          <a:lstStyle/>
          <a:p>
            <a:pPr marL="0" indent="0" algn="r">
              <a:buNone/>
            </a:pPr>
            <a:r>
              <a:rPr lang="en-US" sz="900" dirty="0">
                <a:solidFill>
                  <a:srgbClr val="5D729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dirty="0">
                <a:solidFill>
                  <a:srgbClr val="E4572E"/>
                </a:solidFill>
                <a:latin typeface="Calibri" pitchFamily="34" charset="0"/>
                <a:ea typeface="Calibri" pitchFamily="34" charset="-122"/>
                <a:cs typeface="Calibri" pitchFamily="34" charset="-120"/>
              </a:rPr>
              <a:t>FINDING 1 OF 3</a:t>
            </a:r>
            <a:endParaRPr lang="en-US" sz="13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Pay Determines Who Stays</a:t>
            </a:r>
            <a:endParaRPr lang="en-US" sz="3200" dirty="0"/>
          </a:p>
        </p:txBody>
      </p:sp>
      <p:graphicFrame>
        <p:nvGraphicFramePr>
          <p:cNvPr id="4" name="Chart 0"/>
          <p:cNvGraphicFramePr/>
          <p:nvPr/>
        </p:nvGraphicFramePr>
        <p:xfrm>
          <a:off x="457200" y="1737360"/>
          <a:ext cx="630936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7086600" y="1828800"/>
            <a:ext cx="4617720" cy="822960"/>
          </a:xfrm>
          <a:prstGeom prst="rect">
            <a:avLst/>
          </a:prstGeom>
          <a:noFill/>
          <a:ln/>
        </p:spPr>
        <p:txBody>
          <a:bodyPr wrap="square" lIns="0" tIns="0" rIns="0" bIns="0" rtlCol="0" anchor="ctr"/>
          <a:lstStyle/>
          <a:p>
            <a:pPr marL="0" indent="0">
              <a:lnSpc>
                <a:spcPct val="120000"/>
              </a:lnSpc>
              <a:buNone/>
            </a:pPr>
            <a:r>
              <a:rPr lang="en-US" sz="1700" b="1" dirty="0">
                <a:solidFill>
                  <a:srgbClr val="1E2761"/>
                </a:solidFill>
                <a:latin typeface="Calibri" pitchFamily="34" charset="0"/>
                <a:ea typeface="Calibri" pitchFamily="34" charset="-122"/>
                <a:cs typeface="Calibri" pitchFamily="34" charset="-120"/>
              </a:rPr>
              <a:t>Employees in the low salary bracket leave at more than 4x the rate of top earners.</a:t>
            </a:r>
            <a:endParaRPr lang="en-US" sz="1700" dirty="0"/>
          </a:p>
        </p:txBody>
      </p:sp>
      <p:sp>
        <p:nvSpPr>
          <p:cNvPr id="6" name="Shape 3"/>
          <p:cNvSpPr/>
          <p:nvPr/>
        </p:nvSpPr>
        <p:spPr>
          <a:xfrm>
            <a:off x="7086600" y="2862072"/>
            <a:ext cx="91440" cy="91440"/>
          </a:xfrm>
          <a:prstGeom prst="ellipse">
            <a:avLst/>
          </a:prstGeom>
          <a:solidFill>
            <a:srgbClr val="E4572E"/>
          </a:solidFill>
          <a:ln/>
        </p:spPr>
      </p:sp>
      <p:sp>
        <p:nvSpPr>
          <p:cNvPr id="7" name="Text 4"/>
          <p:cNvSpPr txBox="1"/>
          <p:nvPr/>
        </p:nvSpPr>
        <p:spPr>
          <a:xfrm>
            <a:off x="7360920" y="2743200"/>
            <a:ext cx="4343400" cy="822960"/>
          </a:xfrm>
          <a:prstGeom prst="rect">
            <a:avLst/>
          </a:prstGeom>
          <a:noFill/>
          <a:ln/>
        </p:spPr>
        <p:txBody>
          <a:bodyPr wrap="square" lIns="0" tIns="0" rIns="0" bIns="0" rtlCol="0" anchor="ctr"/>
          <a:lstStyle/>
          <a:p>
            <a:pPr marL="0" indent="0">
              <a:lnSpc>
                <a:spcPct val="120000"/>
              </a:lnSpc>
              <a:buNone/>
            </a:pPr>
            <a:r>
              <a:rPr lang="en-US" sz="1250" dirty="0">
                <a:solidFill>
                  <a:srgbClr val="5D7290"/>
                </a:solidFill>
                <a:latin typeface="Calibri" pitchFamily="34" charset="0"/>
                <a:ea typeface="Calibri" pitchFamily="34" charset="-122"/>
                <a:cs typeface="Calibri" pitchFamily="34" charset="-120"/>
              </a:rPr>
              <a:t>5,740 employees (48% of the company) fall into the low bracket - the single largest group.</a:t>
            </a:r>
            <a:endParaRPr lang="en-US" sz="1250" dirty="0"/>
          </a:p>
        </p:txBody>
      </p:sp>
      <p:sp>
        <p:nvSpPr>
          <p:cNvPr id="8" name="Shape 5"/>
          <p:cNvSpPr/>
          <p:nvPr/>
        </p:nvSpPr>
        <p:spPr>
          <a:xfrm>
            <a:off x="7086600" y="3822192"/>
            <a:ext cx="91440" cy="91440"/>
          </a:xfrm>
          <a:prstGeom prst="ellipse">
            <a:avLst/>
          </a:prstGeom>
          <a:solidFill>
            <a:srgbClr val="E4572E"/>
          </a:solidFill>
          <a:ln/>
        </p:spPr>
      </p:sp>
      <p:sp>
        <p:nvSpPr>
          <p:cNvPr id="9" name="Text 6"/>
          <p:cNvSpPr txBox="1"/>
          <p:nvPr/>
        </p:nvSpPr>
        <p:spPr>
          <a:xfrm>
            <a:off x="7360920" y="3703320"/>
            <a:ext cx="4343400" cy="822960"/>
          </a:xfrm>
          <a:prstGeom prst="rect">
            <a:avLst/>
          </a:prstGeom>
          <a:noFill/>
          <a:ln/>
        </p:spPr>
        <p:txBody>
          <a:bodyPr wrap="square" lIns="0" tIns="0" rIns="0" bIns="0" rtlCol="0" anchor="ctr"/>
          <a:lstStyle/>
          <a:p>
            <a:pPr marL="0" indent="0">
              <a:lnSpc>
                <a:spcPct val="120000"/>
              </a:lnSpc>
              <a:buNone/>
            </a:pPr>
            <a:r>
              <a:rPr lang="en-US" sz="1250" dirty="0">
                <a:solidFill>
                  <a:srgbClr val="5D7290"/>
                </a:solidFill>
                <a:latin typeface="Calibri" pitchFamily="34" charset="0"/>
                <a:ea typeface="Calibri" pitchFamily="34" charset="-122"/>
                <a:cs typeface="Calibri" pitchFamily="34" charset="-120"/>
              </a:rPr>
              <a:t>Employees without a promotion in the last 5 years leave at 16.8%, versus 3.9% for those promoted.</a:t>
            </a:r>
            <a:endParaRPr lang="en-US" sz="1250" dirty="0"/>
          </a:p>
        </p:txBody>
      </p:sp>
      <p:sp>
        <p:nvSpPr>
          <p:cNvPr id="10" name="Shape 7"/>
          <p:cNvSpPr/>
          <p:nvPr/>
        </p:nvSpPr>
        <p:spPr>
          <a:xfrm>
            <a:off x="7086600" y="4782312"/>
            <a:ext cx="91440" cy="91440"/>
          </a:xfrm>
          <a:prstGeom prst="ellipse">
            <a:avLst/>
          </a:prstGeom>
          <a:solidFill>
            <a:srgbClr val="E4572E"/>
          </a:solidFill>
          <a:ln/>
        </p:spPr>
      </p:sp>
      <p:sp>
        <p:nvSpPr>
          <p:cNvPr id="11" name="Text 8"/>
          <p:cNvSpPr txBox="1"/>
          <p:nvPr/>
        </p:nvSpPr>
        <p:spPr>
          <a:xfrm>
            <a:off x="7360920" y="4663440"/>
            <a:ext cx="4343400" cy="822960"/>
          </a:xfrm>
          <a:prstGeom prst="rect">
            <a:avLst/>
          </a:prstGeom>
          <a:noFill/>
          <a:ln/>
        </p:spPr>
        <p:txBody>
          <a:bodyPr wrap="square" lIns="0" tIns="0" rIns="0" bIns="0" rtlCol="0" anchor="ctr"/>
          <a:lstStyle/>
          <a:p>
            <a:pPr marL="0" indent="0">
              <a:lnSpc>
                <a:spcPct val="120000"/>
              </a:lnSpc>
              <a:buNone/>
            </a:pPr>
            <a:r>
              <a:rPr lang="en-US" sz="1250" dirty="0">
                <a:solidFill>
                  <a:srgbClr val="5D7290"/>
                </a:solidFill>
                <a:latin typeface="Calibri" pitchFamily="34" charset="0"/>
                <a:ea typeface="Calibri" pitchFamily="34" charset="-122"/>
                <a:cs typeface="Calibri" pitchFamily="34" charset="-120"/>
              </a:rPr>
              <a:t>Correlation with satisfaction is weak, suggesting pay drives exits through job-market pull, not dissatisfaction alone.</a:t>
            </a:r>
            <a:endParaRPr lang="en-US" sz="1250" dirty="0"/>
          </a:p>
        </p:txBody>
      </p:sp>
      <p:sp>
        <p:nvSpPr>
          <p:cNvPr id="12" name="Text 9"/>
          <p:cNvSpPr txBox="1"/>
          <p:nvPr/>
        </p:nvSpPr>
        <p:spPr>
          <a:xfrm>
            <a:off x="457200" y="6510528"/>
            <a:ext cx="6400800" cy="274320"/>
          </a:xfrm>
          <a:prstGeom prst="rect">
            <a:avLst/>
          </a:prstGeom>
          <a:noFill/>
          <a:ln/>
        </p:spPr>
        <p:txBody>
          <a:bodyPr wrap="square" lIns="0" tIns="0" rIns="0" bIns="0" rtlCol="0" anchor="ctr"/>
          <a:lstStyle/>
          <a:p>
            <a:pPr marL="0" indent="0" algn="l">
              <a:buNone/>
            </a:pPr>
            <a:r>
              <a:rPr lang="en-US" sz="900" dirty="0">
                <a:solidFill>
                  <a:srgbClr val="5D7290"/>
                </a:solidFill>
                <a:latin typeface="Calibri" pitchFamily="34" charset="0"/>
                <a:ea typeface="Calibri" pitchFamily="34" charset="-122"/>
                <a:cs typeface="Calibri" pitchFamily="34" charset="-120"/>
              </a:rPr>
              <a:t>HR Attrition |  Iman Ashoori</a:t>
            </a:r>
            <a:endParaRPr lang="en-US" sz="900" dirty="0"/>
          </a:p>
        </p:txBody>
      </p:sp>
      <p:sp>
        <p:nvSpPr>
          <p:cNvPr id="13" name="Text 10"/>
          <p:cNvSpPr txBox="1"/>
          <p:nvPr/>
        </p:nvSpPr>
        <p:spPr>
          <a:xfrm>
            <a:off x="11521440" y="6510528"/>
            <a:ext cx="457200" cy="274320"/>
          </a:xfrm>
          <a:prstGeom prst="rect">
            <a:avLst/>
          </a:prstGeom>
          <a:noFill/>
          <a:ln/>
        </p:spPr>
        <p:txBody>
          <a:bodyPr wrap="square" lIns="0" tIns="0" rIns="0" bIns="0" rtlCol="0" anchor="ctr"/>
          <a:lstStyle/>
          <a:p>
            <a:pPr marL="0" indent="0" algn="r">
              <a:buNone/>
            </a:pPr>
            <a:r>
              <a:rPr lang="en-US" sz="900" dirty="0">
                <a:solidFill>
                  <a:srgbClr val="5D729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dirty="0">
                <a:solidFill>
                  <a:srgbClr val="E4572E"/>
                </a:solidFill>
                <a:latin typeface="Calibri" pitchFamily="34" charset="0"/>
                <a:ea typeface="Calibri" pitchFamily="34" charset="-122"/>
                <a:cs typeface="Calibri" pitchFamily="34" charset="-120"/>
              </a:rPr>
              <a:t>FINDING 2 OF 3</a:t>
            </a:r>
            <a:endParaRPr lang="en-US" sz="13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Both Overload and Under-Use Drive Exits</a:t>
            </a:r>
            <a:endParaRPr lang="en-US" sz="3200" dirty="0"/>
          </a:p>
        </p:txBody>
      </p:sp>
      <p:sp>
        <p:nvSpPr>
          <p:cNvPr id="4" name="Text 2"/>
          <p:cNvSpPr txBox="1"/>
          <p:nvPr/>
        </p:nvSpPr>
        <p:spPr>
          <a:xfrm>
            <a:off x="548640" y="1737360"/>
            <a:ext cx="11064240" cy="457200"/>
          </a:xfrm>
          <a:prstGeom prst="rect">
            <a:avLst/>
          </a:prstGeom>
          <a:noFill/>
          <a:ln/>
        </p:spPr>
        <p:txBody>
          <a:bodyPr wrap="square" lIns="0" tIns="0" rIns="0" bIns="0" rtlCol="0" anchor="ctr"/>
          <a:lstStyle/>
          <a:p>
            <a:pPr marL="0" indent="0">
              <a:buNone/>
            </a:pPr>
            <a:r>
              <a:rPr lang="en-US" sz="1400" dirty="0">
                <a:solidFill>
                  <a:srgbClr val="5D7290"/>
                </a:solidFill>
                <a:latin typeface="Calibri" pitchFamily="34" charset="0"/>
                <a:ea typeface="Calibri" pitchFamily="34" charset="-122"/>
                <a:cs typeface="Calibri" pitchFamily="34" charset="-120"/>
              </a:rPr>
              <a:t>Employees are most likely to stay with 3 - 5 concurrent projects. Fewer or more, and attrition rises sharply.</a:t>
            </a:r>
            <a:endParaRPr lang="en-US" sz="1400" dirty="0"/>
          </a:p>
        </p:txBody>
      </p:sp>
      <p:graphicFrame>
        <p:nvGraphicFramePr>
          <p:cNvPr id="5" name="Chart 0"/>
          <p:cNvGraphicFramePr/>
          <p:nvPr/>
        </p:nvGraphicFramePr>
        <p:xfrm>
          <a:off x="457200" y="2286000"/>
          <a:ext cx="112471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548640" y="6126480"/>
            <a:ext cx="11064240" cy="320040"/>
          </a:xfrm>
          <a:prstGeom prst="rect">
            <a:avLst/>
          </a:prstGeom>
          <a:noFill/>
          <a:ln/>
        </p:spPr>
        <p:txBody>
          <a:bodyPr wrap="square" lIns="0" tIns="0" rIns="0" bIns="0" rtlCol="0" anchor="ctr"/>
          <a:lstStyle/>
          <a:p>
            <a:pPr marL="0" indent="0">
              <a:buNone/>
            </a:pPr>
            <a:r>
              <a:rPr lang="en-US" sz="1050" i="1" dirty="0">
                <a:solidFill>
                  <a:srgbClr val="5D7290"/>
                </a:solidFill>
                <a:latin typeface="Calibri" pitchFamily="34" charset="0"/>
                <a:ea typeface="Calibri" pitchFamily="34" charset="-122"/>
                <a:cs typeface="Calibri" pitchFamily="34" charset="-120"/>
              </a:rPr>
              <a:t>*Only 145 employees carried 7 projects - but every single one of them left.</a:t>
            </a:r>
            <a:endParaRPr lang="en-US" sz="1050" dirty="0"/>
          </a:p>
        </p:txBody>
      </p:sp>
      <p:sp>
        <p:nvSpPr>
          <p:cNvPr id="7" name="Text 4"/>
          <p:cNvSpPr txBox="1"/>
          <p:nvPr/>
        </p:nvSpPr>
        <p:spPr>
          <a:xfrm>
            <a:off x="457200" y="6510528"/>
            <a:ext cx="6400800" cy="274320"/>
          </a:xfrm>
          <a:prstGeom prst="rect">
            <a:avLst/>
          </a:prstGeom>
          <a:noFill/>
          <a:ln/>
        </p:spPr>
        <p:txBody>
          <a:bodyPr wrap="square" lIns="0" tIns="0" rIns="0" bIns="0" rtlCol="0" anchor="ctr"/>
          <a:lstStyle/>
          <a:p>
            <a:pPr marL="0" indent="0" algn="l">
              <a:buNone/>
            </a:pPr>
            <a:r>
              <a:rPr lang="en-US" sz="900" dirty="0">
                <a:solidFill>
                  <a:srgbClr val="5D7290"/>
                </a:solidFill>
                <a:latin typeface="Calibri" pitchFamily="34" charset="0"/>
                <a:ea typeface="Calibri" pitchFamily="34" charset="-122"/>
                <a:cs typeface="Calibri" pitchFamily="34" charset="-120"/>
              </a:rPr>
              <a:t>HR Attrition |  Iman Ashoori</a:t>
            </a:r>
            <a:endParaRPr lang="en-US" sz="900" dirty="0"/>
          </a:p>
        </p:txBody>
      </p:sp>
      <p:sp>
        <p:nvSpPr>
          <p:cNvPr id="8" name="Text 5"/>
          <p:cNvSpPr txBox="1"/>
          <p:nvPr/>
        </p:nvSpPr>
        <p:spPr>
          <a:xfrm>
            <a:off x="11521440" y="6510528"/>
            <a:ext cx="457200" cy="274320"/>
          </a:xfrm>
          <a:prstGeom prst="rect">
            <a:avLst/>
          </a:prstGeom>
          <a:noFill/>
          <a:ln/>
        </p:spPr>
        <p:txBody>
          <a:bodyPr wrap="square" lIns="0" tIns="0" rIns="0" bIns="0" rtlCol="0" anchor="ctr"/>
          <a:lstStyle/>
          <a:p>
            <a:pPr marL="0" indent="0" algn="r">
              <a:buNone/>
            </a:pPr>
            <a:r>
              <a:rPr lang="en-US" sz="900" dirty="0">
                <a:solidFill>
                  <a:srgbClr val="5D729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dirty="0">
                <a:solidFill>
                  <a:srgbClr val="E4572E"/>
                </a:solidFill>
                <a:latin typeface="Calibri" pitchFamily="34" charset="0"/>
                <a:ea typeface="Calibri" pitchFamily="34" charset="-122"/>
                <a:cs typeface="Calibri" pitchFamily="34" charset="-120"/>
              </a:rPr>
              <a:t>FINDING 3 OF 3</a:t>
            </a:r>
            <a:endParaRPr lang="en-US" sz="13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Satisfaction Is the Strongest Signal</a:t>
            </a:r>
            <a:endParaRPr lang="en-US" sz="3200" dirty="0"/>
          </a:p>
        </p:txBody>
      </p:sp>
      <p:sp>
        <p:nvSpPr>
          <p:cNvPr id="4" name="Shape 2"/>
          <p:cNvSpPr/>
          <p:nvPr/>
        </p:nvSpPr>
        <p:spPr>
          <a:xfrm>
            <a:off x="548640" y="1783080"/>
            <a:ext cx="3291840" cy="4114800"/>
          </a:xfrm>
          <a:prstGeom prst="roundRect">
            <a:avLst>
              <a:gd name="adj" fmla="val 3333"/>
            </a:avLst>
          </a:prstGeom>
          <a:solidFill>
            <a:srgbClr val="1E2761"/>
          </a:solidFill>
          <a:ln/>
          <a:effectLst>
            <a:outerShdw blurRad="101600" dist="38100" dir="5400000" algn="bl" rotWithShape="0">
              <a:srgbClr val="1E2761">
                <a:alpha val="22000"/>
              </a:srgbClr>
            </a:outerShdw>
          </a:effectLst>
        </p:spPr>
      </p:sp>
      <p:sp>
        <p:nvSpPr>
          <p:cNvPr id="5" name="Text 3"/>
          <p:cNvSpPr txBox="1"/>
          <p:nvPr/>
        </p:nvSpPr>
        <p:spPr>
          <a:xfrm>
            <a:off x="548640" y="2286000"/>
            <a:ext cx="3291840" cy="914400"/>
          </a:xfrm>
          <a:prstGeom prst="rect">
            <a:avLst/>
          </a:prstGeom>
          <a:noFill/>
          <a:ln/>
        </p:spPr>
        <p:txBody>
          <a:bodyPr wrap="square" lIns="0" tIns="0" rIns="0" bIns="0" rtlCol="0" anchor="ctr"/>
          <a:lstStyle/>
          <a:p>
            <a:pPr marL="0" indent="0" algn="ctr">
              <a:buNone/>
            </a:pPr>
            <a:r>
              <a:rPr lang="en-US" sz="4800" b="1" dirty="0">
                <a:solidFill>
                  <a:srgbClr val="FFFFFF"/>
                </a:solidFill>
                <a:latin typeface="Cambria" pitchFamily="34" charset="0"/>
                <a:ea typeface="Cambria" pitchFamily="34" charset="-122"/>
                <a:cs typeface="Cambria" pitchFamily="34" charset="-120"/>
              </a:rPr>
              <a:t>-0.35</a:t>
            </a:r>
            <a:endParaRPr lang="en-US" sz="4800" dirty="0"/>
          </a:p>
        </p:txBody>
      </p:sp>
      <p:sp>
        <p:nvSpPr>
          <p:cNvPr id="6" name="Text 4"/>
          <p:cNvSpPr txBox="1"/>
          <p:nvPr/>
        </p:nvSpPr>
        <p:spPr>
          <a:xfrm>
            <a:off x="822960" y="3200400"/>
            <a:ext cx="2743200" cy="548640"/>
          </a:xfrm>
          <a:prstGeom prst="rect">
            <a:avLst/>
          </a:prstGeom>
          <a:noFill/>
          <a:ln/>
        </p:spPr>
        <p:txBody>
          <a:bodyPr wrap="square" lIns="0" tIns="0" rIns="0" bIns="0" rtlCol="0" anchor="ctr"/>
          <a:lstStyle/>
          <a:p>
            <a:pPr marL="0" indent="0" algn="ctr">
              <a:buNone/>
            </a:pPr>
            <a:r>
              <a:rPr lang="en-US" sz="1300" dirty="0">
                <a:solidFill>
                  <a:srgbClr val="CADCFC"/>
                </a:solidFill>
                <a:latin typeface="Calibri" pitchFamily="34" charset="0"/>
                <a:ea typeface="Calibri" pitchFamily="34" charset="-122"/>
                <a:cs typeface="Calibri" pitchFamily="34" charset="-120"/>
              </a:rPr>
              <a:t>correlation with attrition</a:t>
            </a:r>
            <a:endParaRPr lang="en-US" sz="1300" dirty="0"/>
          </a:p>
        </p:txBody>
      </p:sp>
      <p:sp>
        <p:nvSpPr>
          <p:cNvPr id="7" name="Shape 5"/>
          <p:cNvSpPr/>
          <p:nvPr/>
        </p:nvSpPr>
        <p:spPr>
          <a:xfrm>
            <a:off x="1371600" y="3840480"/>
            <a:ext cx="1645920" cy="18288"/>
          </a:xfrm>
          <a:prstGeom prst="rect">
            <a:avLst/>
          </a:prstGeom>
          <a:solidFill>
            <a:srgbClr val="3A4694"/>
          </a:solidFill>
          <a:ln/>
        </p:spPr>
      </p:sp>
      <p:sp>
        <p:nvSpPr>
          <p:cNvPr id="8" name="Text 6"/>
          <p:cNvSpPr txBox="1"/>
          <p:nvPr/>
        </p:nvSpPr>
        <p:spPr>
          <a:xfrm>
            <a:off x="868680" y="4069080"/>
            <a:ext cx="2651760" cy="1463040"/>
          </a:xfrm>
          <a:prstGeom prst="rect">
            <a:avLst/>
          </a:prstGeom>
          <a:noFill/>
          <a:ln/>
        </p:spPr>
        <p:txBody>
          <a:bodyPr wrap="square" lIns="0" tIns="0" rIns="0" bIns="0" rtlCol="0" anchor="ctr"/>
          <a:lstStyle/>
          <a:p>
            <a:pPr marL="0" indent="0" algn="ctr">
              <a:lnSpc>
                <a:spcPct val="125000"/>
              </a:lnSpc>
              <a:buNone/>
            </a:pPr>
            <a:r>
              <a:rPr lang="en-US" sz="1250" dirty="0">
                <a:solidFill>
                  <a:srgbClr val="CADCFC"/>
                </a:solidFill>
                <a:latin typeface="Calibri" pitchFamily="34" charset="0"/>
                <a:ea typeface="Calibri" pitchFamily="34" charset="-122"/>
                <a:cs typeface="Calibri" pitchFamily="34" charset="-120"/>
              </a:rPr>
              <a:t>The strongest relationship of any variable in the dataset - stronger than pay, tenure, or workload.</a:t>
            </a:r>
            <a:endParaRPr lang="en-US" sz="1250" dirty="0"/>
          </a:p>
        </p:txBody>
      </p:sp>
      <p:sp>
        <p:nvSpPr>
          <p:cNvPr id="9" name="Text 7"/>
          <p:cNvSpPr txBox="1"/>
          <p:nvPr/>
        </p:nvSpPr>
        <p:spPr>
          <a:xfrm>
            <a:off x="4160520" y="1783080"/>
            <a:ext cx="7406640" cy="36576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Job satisfaction by years of tenure</a:t>
            </a:r>
            <a:endParaRPr lang="en-US" sz="1400" dirty="0"/>
          </a:p>
        </p:txBody>
      </p:sp>
      <p:graphicFrame>
        <p:nvGraphicFramePr>
          <p:cNvPr id="10" name="Chart 0"/>
          <p:cNvGraphicFramePr/>
          <p:nvPr/>
        </p:nvGraphicFramePr>
        <p:xfrm>
          <a:off x="4023360" y="2194560"/>
          <a:ext cx="758952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 8"/>
          <p:cNvSpPr txBox="1"/>
          <p:nvPr/>
        </p:nvSpPr>
        <p:spPr>
          <a:xfrm>
            <a:off x="4160520" y="5486400"/>
            <a:ext cx="7315200" cy="320040"/>
          </a:xfrm>
          <a:prstGeom prst="rect">
            <a:avLst/>
          </a:prstGeom>
          <a:noFill/>
          <a:ln/>
        </p:spPr>
        <p:txBody>
          <a:bodyPr wrap="square" lIns="0" tIns="0" rIns="0" bIns="0" rtlCol="0" anchor="ctr"/>
          <a:lstStyle/>
          <a:p>
            <a:pPr marL="0" indent="0">
              <a:buNone/>
            </a:pPr>
            <a:r>
              <a:rPr lang="en-US" sz="1150" i="1" dirty="0">
                <a:solidFill>
                  <a:srgbClr val="5D7290"/>
                </a:solidFill>
                <a:latin typeface="Calibri" pitchFamily="34" charset="0"/>
                <a:ea typeface="Calibri" pitchFamily="34" charset="-122"/>
                <a:cs typeface="Calibri" pitchFamily="34" charset="-120"/>
              </a:rPr>
              <a:t>Critical dip at year 3 - 4 - aligns with the near-absence of promotions</a:t>
            </a:r>
            <a:endParaRPr lang="en-US" sz="1150" dirty="0"/>
          </a:p>
        </p:txBody>
      </p:sp>
      <p:sp>
        <p:nvSpPr>
          <p:cNvPr id="12" name="Text 9"/>
          <p:cNvSpPr txBox="1"/>
          <p:nvPr/>
        </p:nvSpPr>
        <p:spPr>
          <a:xfrm>
            <a:off x="4160520" y="5806440"/>
            <a:ext cx="7315200" cy="731520"/>
          </a:xfrm>
          <a:prstGeom prst="rect">
            <a:avLst/>
          </a:prstGeom>
          <a:noFill/>
          <a:ln/>
        </p:spPr>
        <p:txBody>
          <a:bodyPr wrap="square" lIns="0" tIns="0" rIns="0" bIns="0" rtlCol="0" anchor="ctr"/>
          <a:lstStyle/>
          <a:p>
            <a:pPr marL="0" indent="0">
              <a:lnSpc>
                <a:spcPct val="120000"/>
              </a:lnSpc>
              <a:buNone/>
            </a:pPr>
            <a:r>
              <a:rPr lang="en-US" sz="1100" dirty="0">
                <a:solidFill>
                  <a:srgbClr val="5D7290"/>
                </a:solidFill>
                <a:latin typeface="Calibri" pitchFamily="34" charset="0"/>
                <a:ea typeface="Calibri" pitchFamily="34" charset="-122"/>
                <a:cs typeface="Calibri" pitchFamily="34" charset="-120"/>
              </a:rPr>
              <a:t>Only 2.1% of employees were promoted in the last 5 years. Employees without a promotion leave at 16.8% vs. 3.9% for those promoted - yet the effect runs mainly through opportunity and security, not satisfaction alone.</a:t>
            </a:r>
            <a:endParaRPr lang="en-US" sz="1100" dirty="0"/>
          </a:p>
        </p:txBody>
      </p:sp>
      <p:sp>
        <p:nvSpPr>
          <p:cNvPr id="13" name="Text 10"/>
          <p:cNvSpPr txBox="1"/>
          <p:nvPr/>
        </p:nvSpPr>
        <p:spPr>
          <a:xfrm>
            <a:off x="457200" y="6510528"/>
            <a:ext cx="6400800" cy="274320"/>
          </a:xfrm>
          <a:prstGeom prst="rect">
            <a:avLst/>
          </a:prstGeom>
          <a:noFill/>
          <a:ln/>
        </p:spPr>
        <p:txBody>
          <a:bodyPr wrap="square" lIns="0" tIns="0" rIns="0" bIns="0" rtlCol="0" anchor="ctr"/>
          <a:lstStyle/>
          <a:p>
            <a:pPr marL="0" indent="0" algn="l">
              <a:buNone/>
            </a:pPr>
            <a:r>
              <a:rPr lang="en-US" sz="900" dirty="0">
                <a:solidFill>
                  <a:srgbClr val="5D7290"/>
                </a:solidFill>
                <a:latin typeface="Calibri" pitchFamily="34" charset="0"/>
                <a:ea typeface="Calibri" pitchFamily="34" charset="-122"/>
                <a:cs typeface="Calibri" pitchFamily="34" charset="-120"/>
              </a:rPr>
              <a:t>HR Attrition |  Iman Ashoori</a:t>
            </a:r>
            <a:endParaRPr lang="en-US" sz="900" dirty="0"/>
          </a:p>
        </p:txBody>
      </p:sp>
      <p:sp>
        <p:nvSpPr>
          <p:cNvPr id="14" name="Text 11"/>
          <p:cNvSpPr txBox="1"/>
          <p:nvPr/>
        </p:nvSpPr>
        <p:spPr>
          <a:xfrm>
            <a:off x="11521440" y="6510528"/>
            <a:ext cx="457200" cy="274320"/>
          </a:xfrm>
          <a:prstGeom prst="rect">
            <a:avLst/>
          </a:prstGeom>
          <a:noFill/>
          <a:ln/>
        </p:spPr>
        <p:txBody>
          <a:bodyPr wrap="square" lIns="0" tIns="0" rIns="0" bIns="0" rtlCol="0" anchor="ctr"/>
          <a:lstStyle/>
          <a:p>
            <a:pPr marL="0" indent="0" algn="r">
              <a:buNone/>
            </a:pPr>
            <a:r>
              <a:rPr lang="en-US" sz="900" dirty="0">
                <a:solidFill>
                  <a:srgbClr val="5D729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dirty="0">
                <a:solidFill>
                  <a:srgbClr val="E4572E"/>
                </a:solidFill>
                <a:latin typeface="Calibri" pitchFamily="34" charset="0"/>
                <a:ea typeface="Calibri" pitchFamily="34" charset="-122"/>
                <a:cs typeface="Calibri" pitchFamily="34" charset="-120"/>
              </a:rPr>
              <a:t>FROM INSIGHT TO ACTION</a:t>
            </a:r>
            <a:endParaRPr lang="en-US" sz="13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Flagging At-Risk Employees Early</a:t>
            </a:r>
            <a:endParaRPr lang="en-US" sz="3200" dirty="0"/>
          </a:p>
        </p:txBody>
      </p:sp>
      <p:sp>
        <p:nvSpPr>
          <p:cNvPr id="4" name="Text 2"/>
          <p:cNvSpPr txBox="1"/>
          <p:nvPr/>
        </p:nvSpPr>
        <p:spPr>
          <a:xfrm>
            <a:off x="548640" y="1737360"/>
            <a:ext cx="5394960" cy="1371600"/>
          </a:xfrm>
          <a:prstGeom prst="rect">
            <a:avLst/>
          </a:prstGeom>
          <a:noFill/>
          <a:ln/>
        </p:spPr>
        <p:txBody>
          <a:bodyPr wrap="square" lIns="0" tIns="0" rIns="0" bIns="0" rtlCol="0" anchor="ctr"/>
          <a:lstStyle/>
          <a:p>
            <a:pPr marL="0" indent="0">
              <a:lnSpc>
                <a:spcPct val="130000"/>
              </a:lnSpc>
              <a:buNone/>
            </a:pPr>
            <a:r>
              <a:rPr lang="en-US" sz="1350" dirty="0">
                <a:solidFill>
                  <a:srgbClr val="1E2761"/>
                </a:solidFill>
                <a:latin typeface="Calibri" pitchFamily="34" charset="0"/>
                <a:ea typeface="Calibri" pitchFamily="34" charset="-122"/>
                <a:cs typeface="Calibri" pitchFamily="34" charset="-120"/>
              </a:rPr>
              <a:t>A statistical model was trained on employee data to estimate each person's likelihood of leaving. Rather than optimizing for overall accuracy, the model was tuned to catch as many true leavers as possible - the cost of missing a departing employee is far higher than a false alarm.</a:t>
            </a:r>
            <a:endParaRPr lang="en-US" sz="1350" dirty="0"/>
          </a:p>
        </p:txBody>
      </p:sp>
      <p:sp>
        <p:nvSpPr>
          <p:cNvPr id="5" name="Shape 3"/>
          <p:cNvSpPr/>
          <p:nvPr/>
        </p:nvSpPr>
        <p:spPr>
          <a:xfrm>
            <a:off x="548640" y="3246120"/>
            <a:ext cx="5394960" cy="1417320"/>
          </a:xfrm>
          <a:prstGeom prst="roundRect">
            <a:avLst>
              <a:gd name="adj" fmla="val 6452"/>
            </a:avLst>
          </a:prstGeom>
          <a:solidFill>
            <a:srgbClr val="F4F6FB"/>
          </a:solidFill>
          <a:ln w="12700">
            <a:solidFill>
              <a:srgbClr val="DDE4F2"/>
            </a:solidFill>
            <a:prstDash val="solid"/>
          </a:ln>
        </p:spPr>
      </p:sp>
      <p:sp>
        <p:nvSpPr>
          <p:cNvPr id="6" name="Text 4"/>
          <p:cNvSpPr txBox="1"/>
          <p:nvPr/>
        </p:nvSpPr>
        <p:spPr>
          <a:xfrm>
            <a:off x="777240" y="3429000"/>
            <a:ext cx="1554480" cy="1005840"/>
          </a:xfrm>
          <a:prstGeom prst="rect">
            <a:avLst/>
          </a:prstGeom>
          <a:noFill/>
          <a:ln/>
        </p:spPr>
        <p:txBody>
          <a:bodyPr wrap="square" lIns="0" tIns="0" rIns="0" bIns="0" rtlCol="0" anchor="ctr"/>
          <a:lstStyle/>
          <a:p>
            <a:pPr marL="0" indent="0" algn="ctr">
              <a:buNone/>
            </a:pPr>
            <a:r>
              <a:rPr lang="en-US" sz="3400" b="1" dirty="0">
                <a:solidFill>
                  <a:srgbClr val="3A6EA5"/>
                </a:solidFill>
                <a:latin typeface="Cambria" pitchFamily="34" charset="0"/>
                <a:ea typeface="Cambria" pitchFamily="34" charset="-122"/>
                <a:cs typeface="Cambria" pitchFamily="34" charset="-120"/>
              </a:rPr>
              <a:t>82%</a:t>
            </a:r>
            <a:endParaRPr lang="en-US" sz="3400" dirty="0"/>
          </a:p>
        </p:txBody>
      </p:sp>
      <p:sp>
        <p:nvSpPr>
          <p:cNvPr id="7" name="Text 5"/>
          <p:cNvSpPr txBox="1"/>
          <p:nvPr/>
        </p:nvSpPr>
        <p:spPr>
          <a:xfrm>
            <a:off x="2468880" y="3383280"/>
            <a:ext cx="3337560" cy="1280160"/>
          </a:xfrm>
          <a:prstGeom prst="rect">
            <a:avLst/>
          </a:prstGeom>
          <a:noFill/>
          <a:ln/>
        </p:spPr>
        <p:txBody>
          <a:bodyPr wrap="square" lIns="0" tIns="0" rIns="0" bIns="0" rtlCol="0" anchor="ctr"/>
          <a:lstStyle/>
          <a:p>
            <a:pPr marL="0" indent="0">
              <a:lnSpc>
                <a:spcPct val="120000"/>
              </a:lnSpc>
              <a:buNone/>
            </a:pPr>
            <a:r>
              <a:rPr lang="en-US" sz="1150" dirty="0">
                <a:solidFill>
                  <a:srgbClr val="5D7290"/>
                </a:solidFill>
                <a:latin typeface="Calibri" pitchFamily="34" charset="0"/>
                <a:ea typeface="Calibri" pitchFamily="34" charset="-122"/>
                <a:cs typeface="Calibri" pitchFamily="34" charset="-120"/>
              </a:rPr>
              <a:t>Recall: share of true leavers correctly identified before they resign — up from 18% in an untuned baseline model.</a:t>
            </a:r>
            <a:endParaRPr lang="en-US" sz="1150" dirty="0"/>
          </a:p>
        </p:txBody>
      </p:sp>
      <p:sp>
        <p:nvSpPr>
          <p:cNvPr id="8" name="Text 6"/>
          <p:cNvSpPr txBox="1"/>
          <p:nvPr/>
        </p:nvSpPr>
        <p:spPr>
          <a:xfrm>
            <a:off x="548640" y="4892040"/>
            <a:ext cx="5394960" cy="822960"/>
          </a:xfrm>
          <a:prstGeom prst="rect">
            <a:avLst/>
          </a:prstGeom>
          <a:noFill/>
          <a:ln/>
        </p:spPr>
        <p:txBody>
          <a:bodyPr wrap="square" lIns="0" tIns="0" rIns="0" bIns="0" rtlCol="0" anchor="ctr"/>
          <a:lstStyle/>
          <a:p>
            <a:pPr marL="0" indent="0">
              <a:lnSpc>
                <a:spcPct val="125000"/>
              </a:lnSpc>
              <a:buNone/>
            </a:pPr>
            <a:r>
              <a:rPr lang="en-US" sz="1100" i="1" dirty="0">
                <a:solidFill>
                  <a:srgbClr val="5D7290"/>
                </a:solidFill>
                <a:latin typeface="Calibri" pitchFamily="34" charset="0"/>
                <a:ea typeface="Calibri" pitchFamily="34" charset="-122"/>
                <a:cs typeface="Calibri" pitchFamily="34" charset="-120"/>
              </a:rPr>
              <a:t>Method: Logistic Regression, class-balanced, trained on 75% of employees and validated on the remaining 25% never seen during training.</a:t>
            </a:r>
            <a:endParaRPr lang="en-US" sz="1100" dirty="0"/>
          </a:p>
        </p:txBody>
      </p:sp>
      <p:sp>
        <p:nvSpPr>
          <p:cNvPr id="9" name="Text 7"/>
          <p:cNvSpPr txBox="1"/>
          <p:nvPr/>
        </p:nvSpPr>
        <p:spPr>
          <a:xfrm>
            <a:off x="6309360" y="1737360"/>
            <a:ext cx="5394960" cy="36576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What the model weighs most heavily</a:t>
            </a:r>
            <a:endParaRPr lang="en-US" sz="1400" dirty="0"/>
          </a:p>
        </p:txBody>
      </p:sp>
      <p:graphicFrame>
        <p:nvGraphicFramePr>
          <p:cNvPr id="10" name="Chart 0"/>
          <p:cNvGraphicFramePr/>
          <p:nvPr/>
        </p:nvGraphicFramePr>
        <p:xfrm>
          <a:off x="6172200" y="2148840"/>
          <a:ext cx="557784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 8"/>
          <p:cNvSpPr txBox="1"/>
          <p:nvPr/>
        </p:nvSpPr>
        <p:spPr>
          <a:xfrm>
            <a:off x="6309360" y="5486400"/>
            <a:ext cx="5394960" cy="274320"/>
          </a:xfrm>
          <a:prstGeom prst="rect">
            <a:avLst/>
          </a:prstGeom>
          <a:noFill/>
          <a:ln/>
        </p:spPr>
        <p:txBody>
          <a:bodyPr wrap="square" lIns="0" tIns="0" rIns="0" bIns="0" rtlCol="0" anchor="ctr"/>
          <a:lstStyle/>
          <a:p>
            <a:pPr marL="0" indent="0">
              <a:buNone/>
            </a:pPr>
            <a:r>
              <a:rPr lang="en-US" sz="1000" dirty="0">
                <a:solidFill>
                  <a:srgbClr val="5D7290"/>
                </a:solidFill>
                <a:latin typeface="Calibri" pitchFamily="34" charset="0"/>
                <a:ea typeface="Calibri" pitchFamily="34" charset="-122"/>
                <a:cs typeface="Calibri" pitchFamily="34" charset="-120"/>
              </a:rPr>
              <a:t>Navy = lowers risk of leaving   •   Coral = raises risk of leaving</a:t>
            </a:r>
            <a:endParaRPr lang="en-US" sz="1000" dirty="0"/>
          </a:p>
        </p:txBody>
      </p:sp>
      <p:sp>
        <p:nvSpPr>
          <p:cNvPr id="12" name="Text 9"/>
          <p:cNvSpPr txBox="1"/>
          <p:nvPr/>
        </p:nvSpPr>
        <p:spPr>
          <a:xfrm>
            <a:off x="6309360" y="5806440"/>
            <a:ext cx="5394960" cy="548640"/>
          </a:xfrm>
          <a:prstGeom prst="rect">
            <a:avLst/>
          </a:prstGeom>
          <a:noFill/>
          <a:ln/>
        </p:spPr>
        <p:txBody>
          <a:bodyPr wrap="square" lIns="0" tIns="0" rIns="0" bIns="0" rtlCol="0" anchor="ctr"/>
          <a:lstStyle/>
          <a:p>
            <a:pPr marL="0" indent="0">
              <a:lnSpc>
                <a:spcPct val="120000"/>
              </a:lnSpc>
              <a:buNone/>
            </a:pPr>
            <a:r>
              <a:rPr lang="en-US" sz="1000" i="1" dirty="0">
                <a:solidFill>
                  <a:srgbClr val="5D7290"/>
                </a:solidFill>
                <a:latin typeface="Calibri" pitchFamily="34" charset="0"/>
                <a:ea typeface="Calibri" pitchFamily="34" charset="-122"/>
                <a:cs typeface="Calibri" pitchFamily="34" charset="-120"/>
              </a:rPr>
              <a:t>*This linear model reads more projects as safer overall; the true relationship is U-shaped - see Finding 2.</a:t>
            </a:r>
            <a:endParaRPr lang="en-US" sz="1000" dirty="0"/>
          </a:p>
        </p:txBody>
      </p:sp>
      <p:sp>
        <p:nvSpPr>
          <p:cNvPr id="13" name="Text 10"/>
          <p:cNvSpPr txBox="1"/>
          <p:nvPr/>
        </p:nvSpPr>
        <p:spPr>
          <a:xfrm>
            <a:off x="457200" y="6510528"/>
            <a:ext cx="6400800" cy="274320"/>
          </a:xfrm>
          <a:prstGeom prst="rect">
            <a:avLst/>
          </a:prstGeom>
          <a:noFill/>
          <a:ln/>
        </p:spPr>
        <p:txBody>
          <a:bodyPr wrap="square" lIns="0" tIns="0" rIns="0" bIns="0" rtlCol="0" anchor="ctr"/>
          <a:lstStyle/>
          <a:p>
            <a:pPr marL="0" indent="0" algn="l">
              <a:buNone/>
            </a:pPr>
            <a:r>
              <a:rPr lang="en-US" sz="900" dirty="0">
                <a:solidFill>
                  <a:srgbClr val="5D7290"/>
                </a:solidFill>
                <a:latin typeface="Calibri" pitchFamily="34" charset="0"/>
                <a:ea typeface="Calibri" pitchFamily="34" charset="-122"/>
                <a:cs typeface="Calibri" pitchFamily="34" charset="-120"/>
              </a:rPr>
              <a:t>HR Attrition |  Iman Ashoori</a:t>
            </a:r>
            <a:endParaRPr lang="en-US" sz="900" dirty="0"/>
          </a:p>
        </p:txBody>
      </p:sp>
      <p:sp>
        <p:nvSpPr>
          <p:cNvPr id="14" name="Text 11"/>
          <p:cNvSpPr txBox="1"/>
          <p:nvPr/>
        </p:nvSpPr>
        <p:spPr>
          <a:xfrm>
            <a:off x="11521440" y="6510528"/>
            <a:ext cx="457200" cy="274320"/>
          </a:xfrm>
          <a:prstGeom prst="rect">
            <a:avLst/>
          </a:prstGeom>
          <a:noFill/>
          <a:ln/>
        </p:spPr>
        <p:txBody>
          <a:bodyPr wrap="square" lIns="0" tIns="0" rIns="0" bIns="0" rtlCol="0" anchor="ctr"/>
          <a:lstStyle/>
          <a:p>
            <a:pPr marL="0" indent="0" algn="r">
              <a:buNone/>
            </a:pPr>
            <a:r>
              <a:rPr lang="en-US" sz="900" dirty="0">
                <a:solidFill>
                  <a:srgbClr val="5D729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dirty="0">
                <a:solidFill>
                  <a:srgbClr val="E4572E"/>
                </a:solidFill>
                <a:latin typeface="Calibri" pitchFamily="34" charset="0"/>
                <a:ea typeface="Calibri" pitchFamily="34" charset="-122"/>
                <a:cs typeface="Calibri" pitchFamily="34" charset="-120"/>
              </a:rPr>
              <a:t>RECOMMENDATIONS</a:t>
            </a:r>
            <a:endParaRPr lang="en-US" sz="13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Three Actions for HR</a:t>
            </a:r>
            <a:endParaRPr lang="en-US" sz="3200" dirty="0"/>
          </a:p>
        </p:txBody>
      </p:sp>
      <p:sp>
        <p:nvSpPr>
          <p:cNvPr id="4" name="Shape 2"/>
          <p:cNvSpPr/>
          <p:nvPr/>
        </p:nvSpPr>
        <p:spPr>
          <a:xfrm>
            <a:off x="284480" y="1783080"/>
            <a:ext cx="3657600" cy="4160520"/>
          </a:xfrm>
          <a:prstGeom prst="roundRect">
            <a:avLst>
              <a:gd name="adj" fmla="val 3000"/>
            </a:avLst>
          </a:prstGeom>
          <a:solidFill>
            <a:srgbClr val="F4F6FB"/>
          </a:solidFill>
          <a:ln w="12700">
            <a:solidFill>
              <a:srgbClr val="DDE4F2"/>
            </a:solidFill>
            <a:prstDash val="solid"/>
          </a:ln>
          <a:effectLst>
            <a:outerShdw blurRad="101600" dist="38100" dir="5400000" algn="bl" rotWithShape="0">
              <a:srgbClr val="1E2761">
                <a:alpha val="8000"/>
              </a:srgbClr>
            </a:outerShdw>
          </a:effectLst>
        </p:spPr>
      </p:sp>
      <p:sp>
        <p:nvSpPr>
          <p:cNvPr id="5" name="Shape 3"/>
          <p:cNvSpPr/>
          <p:nvPr/>
        </p:nvSpPr>
        <p:spPr>
          <a:xfrm>
            <a:off x="604520" y="2103120"/>
            <a:ext cx="594360" cy="594360"/>
          </a:xfrm>
          <a:prstGeom prst="ellipse">
            <a:avLst/>
          </a:prstGeom>
          <a:solidFill>
            <a:srgbClr val="E4572E"/>
          </a:solidFill>
          <a:ln/>
        </p:spPr>
      </p:sp>
      <p:sp>
        <p:nvSpPr>
          <p:cNvPr id="6" name="Text 4"/>
          <p:cNvSpPr txBox="1"/>
          <p:nvPr/>
        </p:nvSpPr>
        <p:spPr>
          <a:xfrm>
            <a:off x="604520" y="210312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txBox="1"/>
          <p:nvPr/>
        </p:nvSpPr>
        <p:spPr>
          <a:xfrm>
            <a:off x="604520" y="2880360"/>
            <a:ext cx="3017520" cy="548640"/>
          </a:xfrm>
          <a:prstGeom prst="rect">
            <a:avLst/>
          </a:prstGeom>
          <a:noFill/>
          <a:ln/>
        </p:spPr>
        <p:txBody>
          <a:bodyPr wrap="square" lIns="0" tIns="0" rIns="0" bIns="0" rtlCol="0" anchor="ctr"/>
          <a:lstStyle/>
          <a:p>
            <a:pPr marL="0" indent="0">
              <a:lnSpc>
                <a:spcPct val="110000"/>
              </a:lnSpc>
              <a:buNone/>
            </a:pPr>
            <a:r>
              <a:rPr lang="en-US" sz="1800" b="1" dirty="0">
                <a:solidFill>
                  <a:srgbClr val="1E2761"/>
                </a:solidFill>
                <a:latin typeface="Cambria" pitchFamily="34" charset="0"/>
                <a:ea typeface="Cambria" pitchFamily="34" charset="-122"/>
                <a:cs typeface="Cambria" pitchFamily="34" charset="-120"/>
              </a:rPr>
              <a:t>Balance Workload</a:t>
            </a:r>
            <a:endParaRPr lang="en-US" sz="1800" dirty="0"/>
          </a:p>
        </p:txBody>
      </p:sp>
      <p:sp>
        <p:nvSpPr>
          <p:cNvPr id="8" name="Text 6"/>
          <p:cNvSpPr txBox="1"/>
          <p:nvPr/>
        </p:nvSpPr>
        <p:spPr>
          <a:xfrm>
            <a:off x="604520" y="3520440"/>
            <a:ext cx="3017520" cy="2286000"/>
          </a:xfrm>
          <a:prstGeom prst="rect">
            <a:avLst/>
          </a:prstGeom>
          <a:noFill/>
          <a:ln/>
        </p:spPr>
        <p:txBody>
          <a:bodyPr wrap="square" lIns="0" tIns="0" rIns="0" bIns="0" rtlCol="0" anchor="ctr"/>
          <a:lstStyle/>
          <a:p>
            <a:pPr marL="0" indent="0">
              <a:lnSpc>
                <a:spcPct val="130000"/>
              </a:lnSpc>
              <a:buNone/>
            </a:pPr>
            <a:r>
              <a:rPr lang="en-US" sz="1250" dirty="0">
                <a:solidFill>
                  <a:srgbClr val="5D7290"/>
                </a:solidFill>
                <a:latin typeface="Calibri" pitchFamily="34" charset="0"/>
                <a:ea typeface="Calibri" pitchFamily="34" charset="-122"/>
                <a:cs typeface="Calibri" pitchFamily="34" charset="-120"/>
              </a:rPr>
              <a:t>Standardize a range of 3 - 5 concurrent projects per employee. Introduce quarterly workload reviews so managers can flag and redistribute work for anyone above 6 or below 3.</a:t>
            </a:r>
            <a:endParaRPr lang="en-US" sz="1250" dirty="0"/>
          </a:p>
        </p:txBody>
      </p:sp>
      <p:sp>
        <p:nvSpPr>
          <p:cNvPr id="9" name="Shape 7"/>
          <p:cNvSpPr/>
          <p:nvPr/>
        </p:nvSpPr>
        <p:spPr>
          <a:xfrm>
            <a:off x="4262120" y="1783080"/>
            <a:ext cx="3657600" cy="4160520"/>
          </a:xfrm>
          <a:prstGeom prst="roundRect">
            <a:avLst>
              <a:gd name="adj" fmla="val 3000"/>
            </a:avLst>
          </a:prstGeom>
          <a:solidFill>
            <a:srgbClr val="F4F6FB"/>
          </a:solidFill>
          <a:ln w="12700">
            <a:solidFill>
              <a:srgbClr val="DDE4F2"/>
            </a:solidFill>
            <a:prstDash val="solid"/>
          </a:ln>
          <a:effectLst>
            <a:outerShdw blurRad="101600" dist="38100" dir="5400000" algn="bl" rotWithShape="0">
              <a:srgbClr val="1E2761">
                <a:alpha val="8000"/>
              </a:srgbClr>
            </a:outerShdw>
          </a:effectLst>
        </p:spPr>
      </p:sp>
      <p:sp>
        <p:nvSpPr>
          <p:cNvPr id="10" name="Shape 8"/>
          <p:cNvSpPr/>
          <p:nvPr/>
        </p:nvSpPr>
        <p:spPr>
          <a:xfrm>
            <a:off x="4582160" y="2103120"/>
            <a:ext cx="594360" cy="594360"/>
          </a:xfrm>
          <a:prstGeom prst="ellipse">
            <a:avLst/>
          </a:prstGeom>
          <a:solidFill>
            <a:srgbClr val="E4572E"/>
          </a:solidFill>
          <a:ln/>
        </p:spPr>
      </p:sp>
      <p:sp>
        <p:nvSpPr>
          <p:cNvPr id="11" name="Text 9"/>
          <p:cNvSpPr txBox="1"/>
          <p:nvPr/>
        </p:nvSpPr>
        <p:spPr>
          <a:xfrm>
            <a:off x="4582160" y="210312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Text 10"/>
          <p:cNvSpPr txBox="1"/>
          <p:nvPr/>
        </p:nvSpPr>
        <p:spPr>
          <a:xfrm>
            <a:off x="4582160" y="2880360"/>
            <a:ext cx="3017520" cy="548640"/>
          </a:xfrm>
          <a:prstGeom prst="rect">
            <a:avLst/>
          </a:prstGeom>
          <a:noFill/>
          <a:ln/>
        </p:spPr>
        <p:txBody>
          <a:bodyPr wrap="square" lIns="0" tIns="0" rIns="0" bIns="0" rtlCol="0" anchor="ctr"/>
          <a:lstStyle/>
          <a:p>
            <a:pPr marL="0" indent="0">
              <a:lnSpc>
                <a:spcPct val="110000"/>
              </a:lnSpc>
              <a:buNone/>
            </a:pPr>
            <a:r>
              <a:rPr lang="en-US" sz="1800" b="1" dirty="0">
                <a:solidFill>
                  <a:srgbClr val="1E2761"/>
                </a:solidFill>
                <a:latin typeface="Cambria" pitchFamily="34" charset="0"/>
                <a:ea typeface="Cambria" pitchFamily="34" charset="-122"/>
                <a:cs typeface="Cambria" pitchFamily="34" charset="-120"/>
              </a:rPr>
              <a:t>Close the Pay Gap</a:t>
            </a:r>
            <a:endParaRPr lang="en-US" sz="1800" dirty="0"/>
          </a:p>
        </p:txBody>
      </p:sp>
      <p:sp>
        <p:nvSpPr>
          <p:cNvPr id="13" name="Text 11"/>
          <p:cNvSpPr txBox="1"/>
          <p:nvPr/>
        </p:nvSpPr>
        <p:spPr>
          <a:xfrm>
            <a:off x="4582160" y="3520440"/>
            <a:ext cx="3017520" cy="2286000"/>
          </a:xfrm>
          <a:prstGeom prst="rect">
            <a:avLst/>
          </a:prstGeom>
          <a:noFill/>
          <a:ln/>
        </p:spPr>
        <p:txBody>
          <a:bodyPr wrap="square" lIns="0" tIns="0" rIns="0" bIns="0" rtlCol="0" anchor="ctr"/>
          <a:lstStyle/>
          <a:p>
            <a:pPr marL="0" indent="0">
              <a:lnSpc>
                <a:spcPct val="130000"/>
              </a:lnSpc>
              <a:buNone/>
            </a:pPr>
            <a:r>
              <a:rPr lang="en-US" sz="1250" dirty="0">
                <a:solidFill>
                  <a:srgbClr val="5D7290"/>
                </a:solidFill>
                <a:latin typeface="Calibri" pitchFamily="34" charset="0"/>
                <a:ea typeface="Calibri" pitchFamily="34" charset="-122"/>
                <a:cs typeface="Calibri" pitchFamily="34" charset="-120"/>
              </a:rPr>
              <a:t>Review compensation for employees in the low-salary bracket, prioritizing those with strong performance evaluations who are most at risk of leaving for better-paying offers.</a:t>
            </a:r>
            <a:endParaRPr lang="en-US" sz="1250" dirty="0"/>
          </a:p>
        </p:txBody>
      </p:sp>
      <p:sp>
        <p:nvSpPr>
          <p:cNvPr id="14" name="Shape 12"/>
          <p:cNvSpPr/>
          <p:nvPr/>
        </p:nvSpPr>
        <p:spPr>
          <a:xfrm>
            <a:off x="8239760" y="1783080"/>
            <a:ext cx="3657600" cy="4160520"/>
          </a:xfrm>
          <a:prstGeom prst="roundRect">
            <a:avLst>
              <a:gd name="adj" fmla="val 3000"/>
            </a:avLst>
          </a:prstGeom>
          <a:solidFill>
            <a:srgbClr val="F4F6FB"/>
          </a:solidFill>
          <a:ln w="12700">
            <a:solidFill>
              <a:srgbClr val="DDE4F2"/>
            </a:solidFill>
            <a:prstDash val="solid"/>
          </a:ln>
          <a:effectLst>
            <a:outerShdw blurRad="101600" dist="38100" dir="5400000" algn="bl" rotWithShape="0">
              <a:srgbClr val="1E2761">
                <a:alpha val="8000"/>
              </a:srgbClr>
            </a:outerShdw>
          </a:effectLst>
        </p:spPr>
      </p:sp>
      <p:sp>
        <p:nvSpPr>
          <p:cNvPr id="15" name="Shape 13"/>
          <p:cNvSpPr/>
          <p:nvPr/>
        </p:nvSpPr>
        <p:spPr>
          <a:xfrm>
            <a:off x="8559800" y="2103120"/>
            <a:ext cx="594360" cy="594360"/>
          </a:xfrm>
          <a:prstGeom prst="ellipse">
            <a:avLst/>
          </a:prstGeom>
          <a:solidFill>
            <a:srgbClr val="E4572E"/>
          </a:solidFill>
          <a:ln/>
        </p:spPr>
      </p:sp>
      <p:sp>
        <p:nvSpPr>
          <p:cNvPr id="16" name="Text 14"/>
          <p:cNvSpPr txBox="1"/>
          <p:nvPr/>
        </p:nvSpPr>
        <p:spPr>
          <a:xfrm>
            <a:off x="8559800" y="210312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7" name="Text 15"/>
          <p:cNvSpPr txBox="1"/>
          <p:nvPr/>
        </p:nvSpPr>
        <p:spPr>
          <a:xfrm>
            <a:off x="8559800" y="2880360"/>
            <a:ext cx="3017520" cy="548640"/>
          </a:xfrm>
          <a:prstGeom prst="rect">
            <a:avLst/>
          </a:prstGeom>
          <a:noFill/>
          <a:ln/>
        </p:spPr>
        <p:txBody>
          <a:bodyPr wrap="square" lIns="0" tIns="0" rIns="0" bIns="0" rtlCol="0" anchor="ctr"/>
          <a:lstStyle/>
          <a:p>
            <a:pPr marL="0" indent="0">
              <a:lnSpc>
                <a:spcPct val="110000"/>
              </a:lnSpc>
              <a:buNone/>
            </a:pPr>
            <a:r>
              <a:rPr lang="en-US" sz="1800" b="1" dirty="0">
                <a:solidFill>
                  <a:srgbClr val="1E2761"/>
                </a:solidFill>
                <a:latin typeface="Cambria" pitchFamily="34" charset="0"/>
                <a:ea typeface="Cambria" pitchFamily="34" charset="-122"/>
                <a:cs typeface="Cambria" pitchFamily="34" charset="-120"/>
              </a:rPr>
              <a:t>Build Visible Career Paths</a:t>
            </a:r>
            <a:endParaRPr lang="en-US" sz="1800" dirty="0"/>
          </a:p>
        </p:txBody>
      </p:sp>
      <p:sp>
        <p:nvSpPr>
          <p:cNvPr id="18" name="Text 16"/>
          <p:cNvSpPr txBox="1"/>
          <p:nvPr/>
        </p:nvSpPr>
        <p:spPr>
          <a:xfrm>
            <a:off x="8559800" y="3520440"/>
            <a:ext cx="3017520" cy="2286000"/>
          </a:xfrm>
          <a:prstGeom prst="rect">
            <a:avLst/>
          </a:prstGeom>
          <a:noFill/>
          <a:ln/>
        </p:spPr>
        <p:txBody>
          <a:bodyPr wrap="square" lIns="0" tIns="0" rIns="0" bIns="0" rtlCol="0" anchor="ctr"/>
          <a:lstStyle/>
          <a:p>
            <a:pPr marL="0" indent="0">
              <a:lnSpc>
                <a:spcPct val="130000"/>
              </a:lnSpc>
              <a:buNone/>
            </a:pPr>
            <a:r>
              <a:rPr lang="en-US" sz="1250" dirty="0">
                <a:solidFill>
                  <a:srgbClr val="5D7290"/>
                </a:solidFill>
                <a:latin typeface="Calibri" pitchFamily="34" charset="0"/>
                <a:ea typeface="Calibri" pitchFamily="34" charset="-122"/>
                <a:cs typeface="Calibri" pitchFamily="34" charset="-120"/>
              </a:rPr>
              <a:t>Introduce promotion checkpoints at year 2 and year 3 of tenure — before the observed dip in satisfaction — so employees see a clear path forward.</a:t>
            </a:r>
            <a:endParaRPr lang="en-US" sz="1250" dirty="0"/>
          </a:p>
        </p:txBody>
      </p:sp>
      <p:sp>
        <p:nvSpPr>
          <p:cNvPr id="19" name="Text 17"/>
          <p:cNvSpPr txBox="1"/>
          <p:nvPr/>
        </p:nvSpPr>
        <p:spPr>
          <a:xfrm>
            <a:off x="457200" y="6510528"/>
            <a:ext cx="6400800" cy="274320"/>
          </a:xfrm>
          <a:prstGeom prst="rect">
            <a:avLst/>
          </a:prstGeom>
          <a:noFill/>
          <a:ln/>
        </p:spPr>
        <p:txBody>
          <a:bodyPr wrap="square" lIns="0" tIns="0" rIns="0" bIns="0" rtlCol="0" anchor="ctr"/>
          <a:lstStyle/>
          <a:p>
            <a:pPr marL="0" indent="0" algn="l">
              <a:buNone/>
            </a:pPr>
            <a:r>
              <a:rPr lang="en-US" sz="900" dirty="0">
                <a:solidFill>
                  <a:srgbClr val="5D7290"/>
                </a:solidFill>
                <a:latin typeface="Calibri" pitchFamily="34" charset="0"/>
                <a:ea typeface="Calibri" pitchFamily="34" charset="-122"/>
                <a:cs typeface="Calibri" pitchFamily="34" charset="-120"/>
              </a:rPr>
              <a:t>HR Attrition |  Iman Ashoori</a:t>
            </a:r>
            <a:endParaRPr lang="en-US" sz="900" dirty="0"/>
          </a:p>
        </p:txBody>
      </p:sp>
      <p:sp>
        <p:nvSpPr>
          <p:cNvPr id="20" name="Text 18"/>
          <p:cNvSpPr txBox="1"/>
          <p:nvPr/>
        </p:nvSpPr>
        <p:spPr>
          <a:xfrm>
            <a:off x="11521440" y="6510528"/>
            <a:ext cx="457200" cy="274320"/>
          </a:xfrm>
          <a:prstGeom prst="rect">
            <a:avLst/>
          </a:prstGeom>
          <a:noFill/>
          <a:ln/>
        </p:spPr>
        <p:txBody>
          <a:bodyPr wrap="square" lIns="0" tIns="0" rIns="0" bIns="0" rtlCol="0" anchor="ctr"/>
          <a:lstStyle/>
          <a:p>
            <a:pPr marL="0" indent="0" algn="r">
              <a:buNone/>
            </a:pPr>
            <a:r>
              <a:rPr lang="en-US" sz="900" dirty="0">
                <a:solidFill>
                  <a:srgbClr val="5D729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dirty="0">
                <a:solidFill>
                  <a:srgbClr val="E4572E"/>
                </a:solidFill>
                <a:latin typeface="Calibri" pitchFamily="34" charset="0"/>
                <a:ea typeface="Calibri" pitchFamily="34" charset="-122"/>
                <a:cs typeface="Calibri" pitchFamily="34" charset="-120"/>
              </a:rPr>
              <a:t>RIGOR &amp; HONESTY</a:t>
            </a:r>
            <a:endParaRPr lang="en-US" sz="1300" dirty="0"/>
          </a:p>
        </p:txBody>
      </p:sp>
      <p:sp>
        <p:nvSpPr>
          <p:cNvPr id="3" name="Text 1"/>
          <p:cNvSpPr txBox="1"/>
          <p:nvPr/>
        </p:nvSpPr>
        <p:spPr>
          <a:xfrm>
            <a:off x="548640" y="658368"/>
            <a:ext cx="11064240" cy="822960"/>
          </a:xfrm>
          <a:prstGeom prst="rect">
            <a:avLst/>
          </a:prstGeom>
          <a:noFill/>
          <a:ln/>
        </p:spPr>
        <p:txBody>
          <a:bodyPr wrap="square" lIns="0" tIns="0" rIns="0" bIns="0"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Methodology &amp; Limitations</a:t>
            </a:r>
            <a:endParaRPr lang="en-US" sz="3200" dirty="0"/>
          </a:p>
        </p:txBody>
      </p:sp>
      <p:sp>
        <p:nvSpPr>
          <p:cNvPr id="4" name="Text 2"/>
          <p:cNvSpPr txBox="1"/>
          <p:nvPr/>
        </p:nvSpPr>
        <p:spPr>
          <a:xfrm>
            <a:off x="548640" y="1783080"/>
            <a:ext cx="5394960" cy="365760"/>
          </a:xfrm>
          <a:prstGeom prst="rect">
            <a:avLst/>
          </a:prstGeom>
          <a:noFill/>
          <a:ln/>
        </p:spPr>
        <p:txBody>
          <a:bodyPr wrap="square" lIns="0" tIns="0" rIns="0" bIns="0" rtlCol="0" anchor="ctr"/>
          <a:lstStyle/>
          <a:p>
            <a:pPr marL="0" indent="0">
              <a:buNone/>
            </a:pPr>
            <a:r>
              <a:rPr lang="en-US" sz="1500" b="1" dirty="0">
                <a:solidFill>
                  <a:srgbClr val="E4572E"/>
                </a:solidFill>
                <a:latin typeface="Calibri" pitchFamily="34" charset="0"/>
                <a:ea typeface="Calibri" pitchFamily="34" charset="-122"/>
                <a:cs typeface="Calibri" pitchFamily="34" charset="-120"/>
              </a:rPr>
              <a:t>About the data</a:t>
            </a:r>
            <a:endParaRPr lang="en-US" sz="1500" dirty="0"/>
          </a:p>
        </p:txBody>
      </p:sp>
      <p:sp>
        <p:nvSpPr>
          <p:cNvPr id="5" name="Shape 3"/>
          <p:cNvSpPr/>
          <p:nvPr/>
        </p:nvSpPr>
        <p:spPr>
          <a:xfrm>
            <a:off x="548640" y="2267712"/>
            <a:ext cx="82296" cy="82296"/>
          </a:xfrm>
          <a:prstGeom prst="ellipse">
            <a:avLst/>
          </a:prstGeom>
          <a:solidFill>
            <a:srgbClr val="1E2761"/>
          </a:solidFill>
          <a:ln/>
        </p:spPr>
      </p:sp>
      <p:sp>
        <p:nvSpPr>
          <p:cNvPr id="6" name="Text 4"/>
          <p:cNvSpPr txBox="1"/>
          <p:nvPr/>
        </p:nvSpPr>
        <p:spPr>
          <a:xfrm>
            <a:off x="804672" y="2139696"/>
            <a:ext cx="5120640" cy="822960"/>
          </a:xfrm>
          <a:prstGeom prst="rect">
            <a:avLst/>
          </a:prstGeom>
          <a:noFill/>
          <a:ln/>
        </p:spPr>
        <p:txBody>
          <a:bodyPr wrap="square" lIns="0" tIns="0" rIns="0" bIns="0" rtlCol="0" anchor="ctr"/>
          <a:lstStyle/>
          <a:p>
            <a:pPr marL="0" indent="0">
              <a:lnSpc>
                <a:spcPct val="125000"/>
              </a:lnSpc>
              <a:buNone/>
            </a:pPr>
            <a:r>
              <a:rPr lang="en-US" sz="1200" dirty="0">
                <a:solidFill>
                  <a:srgbClr val="5D7290"/>
                </a:solidFill>
                <a:latin typeface="Calibri" pitchFamily="34" charset="0"/>
                <a:ea typeface="Calibri" pitchFamily="34" charset="-122"/>
                <a:cs typeface="Calibri" pitchFamily="34" charset="-120"/>
              </a:rPr>
              <a:t>Public dataset (Kaggle), not this company's own HR system - findings illustrate the method, not this organization's numbers.</a:t>
            </a:r>
            <a:endParaRPr lang="en-US" sz="1200" dirty="0"/>
          </a:p>
        </p:txBody>
      </p:sp>
      <p:sp>
        <p:nvSpPr>
          <p:cNvPr id="7" name="Shape 5"/>
          <p:cNvSpPr/>
          <p:nvPr/>
        </p:nvSpPr>
        <p:spPr>
          <a:xfrm>
            <a:off x="548640" y="3182112"/>
            <a:ext cx="82296" cy="82296"/>
          </a:xfrm>
          <a:prstGeom prst="ellipse">
            <a:avLst/>
          </a:prstGeom>
          <a:solidFill>
            <a:srgbClr val="1E2761"/>
          </a:solidFill>
          <a:ln/>
        </p:spPr>
      </p:sp>
      <p:sp>
        <p:nvSpPr>
          <p:cNvPr id="8" name="Text 6"/>
          <p:cNvSpPr txBox="1"/>
          <p:nvPr/>
        </p:nvSpPr>
        <p:spPr>
          <a:xfrm>
            <a:off x="804672" y="3054096"/>
            <a:ext cx="5120640" cy="822960"/>
          </a:xfrm>
          <a:prstGeom prst="rect">
            <a:avLst/>
          </a:prstGeom>
          <a:noFill/>
          <a:ln/>
        </p:spPr>
        <p:txBody>
          <a:bodyPr wrap="square" lIns="0" tIns="0" rIns="0" bIns="0" rtlCol="0" anchor="ctr"/>
          <a:lstStyle/>
          <a:p>
            <a:pPr marL="0" indent="0">
              <a:lnSpc>
                <a:spcPct val="125000"/>
              </a:lnSpc>
              <a:buNone/>
            </a:pPr>
            <a:r>
              <a:rPr lang="en-US" sz="1200" dirty="0">
                <a:solidFill>
                  <a:srgbClr val="5D7290"/>
                </a:solidFill>
                <a:latin typeface="Calibri" pitchFamily="34" charset="0"/>
                <a:ea typeface="Calibri" pitchFamily="34" charset="-122"/>
                <a:cs typeface="Calibri" pitchFamily="34" charset="-120"/>
              </a:rPr>
              <a:t>No external salary benchmark: pay is only known as Low / Medium / High, not against market rates.</a:t>
            </a:r>
            <a:endParaRPr lang="en-US" sz="1200" dirty="0"/>
          </a:p>
        </p:txBody>
      </p:sp>
      <p:sp>
        <p:nvSpPr>
          <p:cNvPr id="9" name="Shape 7"/>
          <p:cNvSpPr/>
          <p:nvPr/>
        </p:nvSpPr>
        <p:spPr>
          <a:xfrm>
            <a:off x="548640" y="4096512"/>
            <a:ext cx="82296" cy="82296"/>
          </a:xfrm>
          <a:prstGeom prst="ellipse">
            <a:avLst/>
          </a:prstGeom>
          <a:solidFill>
            <a:srgbClr val="1E2761"/>
          </a:solidFill>
          <a:ln/>
        </p:spPr>
      </p:sp>
      <p:sp>
        <p:nvSpPr>
          <p:cNvPr id="10" name="Text 8"/>
          <p:cNvSpPr txBox="1"/>
          <p:nvPr/>
        </p:nvSpPr>
        <p:spPr>
          <a:xfrm>
            <a:off x="804672" y="3968496"/>
            <a:ext cx="5120640" cy="822960"/>
          </a:xfrm>
          <a:prstGeom prst="rect">
            <a:avLst/>
          </a:prstGeom>
          <a:noFill/>
          <a:ln/>
        </p:spPr>
        <p:txBody>
          <a:bodyPr wrap="square" lIns="0" tIns="0" rIns="0" bIns="0" rtlCol="0" anchor="ctr"/>
          <a:lstStyle/>
          <a:p>
            <a:pPr marL="0" indent="0">
              <a:lnSpc>
                <a:spcPct val="125000"/>
              </a:lnSpc>
              <a:buNone/>
            </a:pPr>
            <a:r>
              <a:rPr lang="en-US" sz="1200" dirty="0">
                <a:solidFill>
                  <a:srgbClr val="5D7290"/>
                </a:solidFill>
                <a:latin typeface="Calibri" pitchFamily="34" charset="0"/>
                <a:ea typeface="Calibri" pitchFamily="34" charset="-122"/>
                <a:cs typeface="Calibri" pitchFamily="34" charset="-120"/>
              </a:rPr>
              <a:t>No manager-level data, so workload cannot be attributed to specific managers or teams.</a:t>
            </a:r>
            <a:endParaRPr lang="en-US" sz="1200" dirty="0"/>
          </a:p>
        </p:txBody>
      </p:sp>
      <p:sp>
        <p:nvSpPr>
          <p:cNvPr id="11" name="Shape 9"/>
          <p:cNvSpPr/>
          <p:nvPr/>
        </p:nvSpPr>
        <p:spPr>
          <a:xfrm>
            <a:off x="548640" y="5010912"/>
            <a:ext cx="82296" cy="82296"/>
          </a:xfrm>
          <a:prstGeom prst="ellipse">
            <a:avLst/>
          </a:prstGeom>
          <a:solidFill>
            <a:srgbClr val="1E2761"/>
          </a:solidFill>
          <a:ln/>
        </p:spPr>
      </p:sp>
      <p:sp>
        <p:nvSpPr>
          <p:cNvPr id="12" name="Text 10"/>
          <p:cNvSpPr txBox="1"/>
          <p:nvPr/>
        </p:nvSpPr>
        <p:spPr>
          <a:xfrm>
            <a:off x="804672" y="4882896"/>
            <a:ext cx="5120640" cy="822960"/>
          </a:xfrm>
          <a:prstGeom prst="rect">
            <a:avLst/>
          </a:prstGeom>
          <a:noFill/>
          <a:ln/>
        </p:spPr>
        <p:txBody>
          <a:bodyPr wrap="square" lIns="0" tIns="0" rIns="0" bIns="0" rtlCol="0" anchor="ctr"/>
          <a:lstStyle/>
          <a:p>
            <a:pPr marL="0" indent="0">
              <a:lnSpc>
                <a:spcPct val="125000"/>
              </a:lnSpc>
              <a:buNone/>
            </a:pPr>
            <a:r>
              <a:rPr lang="en-US" sz="1200" dirty="0">
                <a:solidFill>
                  <a:srgbClr val="5D7290"/>
                </a:solidFill>
                <a:latin typeface="Calibri" pitchFamily="34" charset="0"/>
                <a:ea typeface="Calibri" pitchFamily="34" charset="-122"/>
                <a:cs typeface="Calibri" pitchFamily="34" charset="-120"/>
              </a:rPr>
              <a:t>14,999 records; 3,008 duplicates removed prior to analysis (11,991 used).</a:t>
            </a:r>
            <a:endParaRPr lang="en-US" sz="1200" dirty="0"/>
          </a:p>
        </p:txBody>
      </p:sp>
      <p:sp>
        <p:nvSpPr>
          <p:cNvPr id="13" name="Text 11"/>
          <p:cNvSpPr txBox="1"/>
          <p:nvPr/>
        </p:nvSpPr>
        <p:spPr>
          <a:xfrm>
            <a:off x="6309360" y="1783080"/>
            <a:ext cx="5394960" cy="365760"/>
          </a:xfrm>
          <a:prstGeom prst="rect">
            <a:avLst/>
          </a:prstGeom>
          <a:noFill/>
          <a:ln/>
        </p:spPr>
        <p:txBody>
          <a:bodyPr wrap="square" lIns="0" tIns="0" rIns="0" bIns="0" rtlCol="0" anchor="ctr"/>
          <a:lstStyle/>
          <a:p>
            <a:pPr marL="0" indent="0">
              <a:buNone/>
            </a:pPr>
            <a:r>
              <a:rPr lang="en-US" sz="1500" b="1" dirty="0">
                <a:solidFill>
                  <a:srgbClr val="E4572E"/>
                </a:solidFill>
                <a:latin typeface="Calibri" pitchFamily="34" charset="0"/>
                <a:ea typeface="Calibri" pitchFamily="34" charset="-122"/>
                <a:cs typeface="Calibri" pitchFamily="34" charset="-120"/>
              </a:rPr>
              <a:t>About the model</a:t>
            </a:r>
            <a:endParaRPr lang="en-US" sz="1500" dirty="0"/>
          </a:p>
        </p:txBody>
      </p:sp>
      <p:sp>
        <p:nvSpPr>
          <p:cNvPr id="14" name="Shape 12"/>
          <p:cNvSpPr/>
          <p:nvPr/>
        </p:nvSpPr>
        <p:spPr>
          <a:xfrm>
            <a:off x="6309360" y="2267712"/>
            <a:ext cx="82296" cy="82296"/>
          </a:xfrm>
          <a:prstGeom prst="ellipse">
            <a:avLst/>
          </a:prstGeom>
          <a:solidFill>
            <a:srgbClr val="1E2761"/>
          </a:solidFill>
          <a:ln/>
        </p:spPr>
      </p:sp>
      <p:sp>
        <p:nvSpPr>
          <p:cNvPr id="15" name="Text 13"/>
          <p:cNvSpPr txBox="1"/>
          <p:nvPr/>
        </p:nvSpPr>
        <p:spPr>
          <a:xfrm>
            <a:off x="6565392" y="2139696"/>
            <a:ext cx="5120640" cy="960120"/>
          </a:xfrm>
          <a:prstGeom prst="rect">
            <a:avLst/>
          </a:prstGeom>
          <a:noFill/>
          <a:ln/>
        </p:spPr>
        <p:txBody>
          <a:bodyPr wrap="square" lIns="0" tIns="0" rIns="0" bIns="0" rtlCol="0" anchor="ctr"/>
          <a:lstStyle/>
          <a:p>
            <a:pPr marL="0" indent="0">
              <a:lnSpc>
                <a:spcPct val="125000"/>
              </a:lnSpc>
              <a:buNone/>
            </a:pPr>
            <a:r>
              <a:rPr lang="en-US" sz="1200" dirty="0">
                <a:solidFill>
                  <a:srgbClr val="5D7290"/>
                </a:solidFill>
                <a:latin typeface="Calibri" pitchFamily="34" charset="0"/>
                <a:ea typeface="Calibri" pitchFamily="34" charset="-122"/>
                <a:cs typeface="Calibri" pitchFamily="34" charset="-120"/>
              </a:rPr>
              <a:t>Logistic Regression assumes each factor has a straight-line effect; it cannot fully capture the U-shaped workload pattern (Finding 2).</a:t>
            </a:r>
            <a:endParaRPr lang="en-US" sz="1200" dirty="0"/>
          </a:p>
        </p:txBody>
      </p:sp>
      <p:sp>
        <p:nvSpPr>
          <p:cNvPr id="16" name="Shape 14"/>
          <p:cNvSpPr/>
          <p:nvPr/>
        </p:nvSpPr>
        <p:spPr>
          <a:xfrm>
            <a:off x="6309360" y="3319272"/>
            <a:ext cx="82296" cy="82296"/>
          </a:xfrm>
          <a:prstGeom prst="ellipse">
            <a:avLst/>
          </a:prstGeom>
          <a:solidFill>
            <a:srgbClr val="1E2761"/>
          </a:solidFill>
          <a:ln/>
        </p:spPr>
      </p:sp>
      <p:sp>
        <p:nvSpPr>
          <p:cNvPr id="17" name="Text 15"/>
          <p:cNvSpPr txBox="1"/>
          <p:nvPr/>
        </p:nvSpPr>
        <p:spPr>
          <a:xfrm>
            <a:off x="6565392" y="3191256"/>
            <a:ext cx="5120640" cy="960120"/>
          </a:xfrm>
          <a:prstGeom prst="rect">
            <a:avLst/>
          </a:prstGeom>
          <a:noFill/>
          <a:ln/>
        </p:spPr>
        <p:txBody>
          <a:bodyPr wrap="square" lIns="0" tIns="0" rIns="0" bIns="0" rtlCol="0" anchor="ctr"/>
          <a:lstStyle/>
          <a:p>
            <a:pPr marL="0" indent="0">
              <a:lnSpc>
                <a:spcPct val="125000"/>
              </a:lnSpc>
              <a:buNone/>
            </a:pPr>
            <a:r>
              <a:rPr lang="en-US" sz="1200" dirty="0">
                <a:solidFill>
                  <a:srgbClr val="5D7290"/>
                </a:solidFill>
                <a:latin typeface="Calibri" pitchFamily="34" charset="0"/>
                <a:ea typeface="Calibri" pitchFamily="34" charset="-122"/>
                <a:cs typeface="Calibri" pitchFamily="34" charset="-120"/>
              </a:rPr>
              <a:t>Tuning for recall increased false alarms - roughly 1 in 3 employees flagged as at-risk will not actually leave.</a:t>
            </a:r>
            <a:endParaRPr lang="en-US" sz="1200" dirty="0"/>
          </a:p>
        </p:txBody>
      </p:sp>
      <p:sp>
        <p:nvSpPr>
          <p:cNvPr id="18" name="Shape 16"/>
          <p:cNvSpPr/>
          <p:nvPr/>
        </p:nvSpPr>
        <p:spPr>
          <a:xfrm>
            <a:off x="6309360" y="4370832"/>
            <a:ext cx="82296" cy="82296"/>
          </a:xfrm>
          <a:prstGeom prst="ellipse">
            <a:avLst/>
          </a:prstGeom>
          <a:solidFill>
            <a:srgbClr val="1E2761"/>
          </a:solidFill>
          <a:ln/>
        </p:spPr>
      </p:sp>
      <p:sp>
        <p:nvSpPr>
          <p:cNvPr id="19" name="Text 17"/>
          <p:cNvSpPr txBox="1"/>
          <p:nvPr/>
        </p:nvSpPr>
        <p:spPr>
          <a:xfrm>
            <a:off x="6565392" y="4242816"/>
            <a:ext cx="5120640" cy="960120"/>
          </a:xfrm>
          <a:prstGeom prst="rect">
            <a:avLst/>
          </a:prstGeom>
          <a:noFill/>
          <a:ln/>
        </p:spPr>
        <p:txBody>
          <a:bodyPr wrap="square" lIns="0" tIns="0" rIns="0" bIns="0" rtlCol="0" anchor="ctr"/>
          <a:lstStyle/>
          <a:p>
            <a:pPr marL="0" indent="0">
              <a:lnSpc>
                <a:spcPct val="125000"/>
              </a:lnSpc>
              <a:buNone/>
            </a:pPr>
            <a:r>
              <a:rPr lang="en-US" sz="1200" dirty="0">
                <a:solidFill>
                  <a:srgbClr val="5D7290"/>
                </a:solidFill>
                <a:latin typeface="Calibri" pitchFamily="34" charset="0"/>
                <a:ea typeface="Calibri" pitchFamily="34" charset="-122"/>
                <a:cs typeface="Calibri" pitchFamily="34" charset="-120"/>
              </a:rPr>
              <a:t>Recommended next step: test tree-based models (e.g. Random Forest) to capture non-linear patterns more precisely.</a:t>
            </a:r>
            <a:endParaRPr lang="en-US" sz="1200" dirty="0"/>
          </a:p>
        </p:txBody>
      </p:sp>
      <p:sp>
        <p:nvSpPr>
          <p:cNvPr id="20" name="Text 18"/>
          <p:cNvSpPr txBox="1"/>
          <p:nvPr/>
        </p:nvSpPr>
        <p:spPr>
          <a:xfrm>
            <a:off x="457200" y="6510528"/>
            <a:ext cx="6400800" cy="274320"/>
          </a:xfrm>
          <a:prstGeom prst="rect">
            <a:avLst/>
          </a:prstGeom>
          <a:noFill/>
          <a:ln/>
        </p:spPr>
        <p:txBody>
          <a:bodyPr wrap="square" lIns="0" tIns="0" rIns="0" bIns="0" rtlCol="0" anchor="ctr"/>
          <a:lstStyle/>
          <a:p>
            <a:pPr marL="0" indent="0" algn="l">
              <a:buNone/>
            </a:pPr>
            <a:r>
              <a:rPr lang="en-US" sz="900" dirty="0">
                <a:solidFill>
                  <a:srgbClr val="5D7290"/>
                </a:solidFill>
                <a:latin typeface="Calibri" pitchFamily="34" charset="0"/>
                <a:ea typeface="Calibri" pitchFamily="34" charset="-122"/>
                <a:cs typeface="Calibri" pitchFamily="34" charset="-120"/>
              </a:rPr>
              <a:t>HR Attrition |  Iman Ashoori</a:t>
            </a:r>
            <a:endParaRPr lang="en-US" sz="900" dirty="0"/>
          </a:p>
        </p:txBody>
      </p:sp>
      <p:sp>
        <p:nvSpPr>
          <p:cNvPr id="21" name="Text 19"/>
          <p:cNvSpPr txBox="1"/>
          <p:nvPr/>
        </p:nvSpPr>
        <p:spPr>
          <a:xfrm>
            <a:off x="11521440" y="6510528"/>
            <a:ext cx="457200" cy="274320"/>
          </a:xfrm>
          <a:prstGeom prst="rect">
            <a:avLst/>
          </a:prstGeom>
          <a:noFill/>
          <a:ln/>
        </p:spPr>
        <p:txBody>
          <a:bodyPr wrap="square" lIns="0" tIns="0" rIns="0" bIns="0" rtlCol="0" anchor="ctr"/>
          <a:lstStyle/>
          <a:p>
            <a:pPr marL="0" indent="0" algn="r">
              <a:buNone/>
            </a:pPr>
            <a:r>
              <a:rPr lang="en-US" sz="900" dirty="0">
                <a:solidFill>
                  <a:srgbClr val="5D729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097280" y="-1097280"/>
            <a:ext cx="3291840" cy="3291840"/>
          </a:xfrm>
          <a:prstGeom prst="ellipse">
            <a:avLst/>
          </a:prstGeom>
          <a:solidFill>
            <a:srgbClr val="141B45"/>
          </a:solidFill>
          <a:ln/>
        </p:spPr>
      </p:sp>
      <p:sp>
        <p:nvSpPr>
          <p:cNvPr id="3" name="Shape 1"/>
          <p:cNvSpPr/>
          <p:nvPr/>
        </p:nvSpPr>
        <p:spPr>
          <a:xfrm>
            <a:off x="-274320" y="-274320"/>
            <a:ext cx="1645920" cy="1645920"/>
          </a:xfrm>
          <a:prstGeom prst="ellipse">
            <a:avLst/>
          </a:prstGeom>
          <a:solidFill>
            <a:srgbClr val="23306E"/>
          </a:solidFill>
          <a:ln/>
        </p:spPr>
      </p:sp>
      <p:sp>
        <p:nvSpPr>
          <p:cNvPr id="4" name="Text 2"/>
          <p:cNvSpPr txBox="1"/>
          <p:nvPr/>
        </p:nvSpPr>
        <p:spPr>
          <a:xfrm>
            <a:off x="640080" y="2651760"/>
            <a:ext cx="9144000" cy="100584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5" name="Text 3"/>
          <p:cNvSpPr txBox="1"/>
          <p:nvPr/>
        </p:nvSpPr>
        <p:spPr>
          <a:xfrm>
            <a:off x="658368" y="3520440"/>
            <a:ext cx="7315200" cy="45720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Questions and discussion welcome.</a:t>
            </a:r>
            <a:endParaRPr lang="en-US" sz="1600" dirty="0"/>
          </a:p>
        </p:txBody>
      </p:sp>
      <p:sp>
        <p:nvSpPr>
          <p:cNvPr id="6" name="Text 4"/>
          <p:cNvSpPr txBox="1"/>
          <p:nvPr/>
        </p:nvSpPr>
        <p:spPr>
          <a:xfrm>
            <a:off x="640080" y="5257800"/>
            <a:ext cx="5486400" cy="3200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Iman Ashoori</a:t>
            </a:r>
            <a:endParaRPr lang="en-US" sz="1400" dirty="0"/>
          </a:p>
        </p:txBody>
      </p:sp>
      <p:sp>
        <p:nvSpPr>
          <p:cNvPr id="7" name="Text 5"/>
          <p:cNvSpPr txBox="1"/>
          <p:nvPr/>
        </p:nvSpPr>
        <p:spPr>
          <a:xfrm>
            <a:off x="640080" y="5550408"/>
            <a:ext cx="7315200" cy="274320"/>
          </a:xfrm>
          <a:prstGeom prst="rect">
            <a:avLst/>
          </a:prstGeom>
          <a:noFill/>
          <a:ln/>
        </p:spPr>
        <p:txBody>
          <a:bodyPr wrap="square" lIns="0" tIns="0" rIns="0" bIns="0" rtlCol="0" anchor="ctr"/>
          <a:lstStyle/>
          <a:p>
            <a:pPr marL="0" indent="0">
              <a:buNone/>
            </a:pPr>
            <a:r>
              <a:rPr lang="en-US" sz="1100" dirty="0">
                <a:solidFill>
                  <a:srgbClr val="8B9BC7"/>
                </a:solidFill>
                <a:latin typeface="Calibri" pitchFamily="34" charset="0"/>
                <a:ea typeface="Calibri" pitchFamily="34" charset="-122"/>
                <a:cs typeface="Calibri" pitchFamily="34" charset="-120"/>
              </a:rPr>
              <a:t>HR Attrition Prediction — Data Analytics Project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983</Words>
  <Application>Microsoft Macintosh PowerPoint</Application>
  <PresentationFormat>Widescreen</PresentationFormat>
  <Paragraphs>130</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Iman Ashoori</cp:lastModifiedBy>
  <cp:revision>2</cp:revision>
  <dcterms:created xsi:type="dcterms:W3CDTF">2026-09-17T09:31:21Z</dcterms:created>
  <dcterms:modified xsi:type="dcterms:W3CDTF">2026-09-17T09:50:43Z</dcterms:modified>
</cp:coreProperties>
</file>